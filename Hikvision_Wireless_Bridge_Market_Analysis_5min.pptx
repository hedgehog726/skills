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1279e6a144b10" /><Relationship Type="http://schemas.openxmlformats.org/officeDocument/2006/relationships/extended-properties" Target="/docProps/app.xml" Id="R189f992a31794b2e" /><Relationship Type="http://schemas.openxmlformats.org/officeDocument/2006/relationships/officeDocument" Target="/ppt/presentation.xml" Id="R1dd73562aa1546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c962cfb46f4fb8"/>
  </p:sldMasterIdLst>
  <p:notesMasterIdLst>
    <p:notesMasterId xmlns:r="http://schemas.openxmlformats.org/officeDocument/2006/relationships" r:id="R5820f00335ba47b6"/>
  </p:notesMasterIdLst>
  <p:sldIdLst>
    <p:sldId xmlns:r="http://schemas.openxmlformats.org/officeDocument/2006/relationships" id="256" r:id="R3fc8ca3d91874c71"/>
    <p:sldId xmlns:r="http://schemas.openxmlformats.org/officeDocument/2006/relationships" id="257" r:id="R99e9907b17f54113"/>
    <p:sldId xmlns:r="http://schemas.openxmlformats.org/officeDocument/2006/relationships" id="258" r:id="Rdf97a8ce43e649d9"/>
    <p:sldId xmlns:r="http://schemas.openxmlformats.org/officeDocument/2006/relationships" id="259" r:id="R0f8958ef879e4346"/>
    <p:sldId xmlns:r="http://schemas.openxmlformats.org/officeDocument/2006/relationships" id="260" r:id="Rb7b35583352a4ae8"/>
    <p:sldId xmlns:r="http://schemas.openxmlformats.org/officeDocument/2006/relationships" id="261" r:id="R54b248abbcbf4f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9022a6695f4ec8" /><Relationship Type="http://schemas.openxmlformats.org/officeDocument/2006/relationships/slideMaster" Target="/ppt/slideMasters/slideMaster1.xml" Id="R0bc962cfb46f4fb8" /><Relationship Type="http://schemas.openxmlformats.org/officeDocument/2006/relationships/notesMaster" Target="/ppt/notesMasters/notesMaster1.xml" Id="R5820f00335ba47b6" /><Relationship Type="http://schemas.openxmlformats.org/officeDocument/2006/relationships/presProps" Target="/ppt/presProps.xml" Id="Rf5a46e82be184059" /><Relationship Type="http://schemas.openxmlformats.org/officeDocument/2006/relationships/tableStyles" Target="/ppt/tableStyles.xml" Id="R1f16a26417e547d4" /><Relationship Type="http://schemas.openxmlformats.org/officeDocument/2006/relationships/slide" Target="/ppt/slides/slide1.xml" Id="R3fc8ca3d91874c71" /><Relationship Type="http://schemas.openxmlformats.org/officeDocument/2006/relationships/slide" Target="/ppt/slides/slide2.xml" Id="R99e9907b17f54113" /><Relationship Type="http://schemas.openxmlformats.org/officeDocument/2006/relationships/slide" Target="/ppt/slides/slide3.xml" Id="Rdf97a8ce43e649d9" /><Relationship Type="http://schemas.openxmlformats.org/officeDocument/2006/relationships/slide" Target="/ppt/slides/slide4.xml" Id="R0f8958ef879e4346" /><Relationship Type="http://schemas.openxmlformats.org/officeDocument/2006/relationships/slide" Target="/ppt/slides/slide5.xml" Id="Rb7b35583352a4ae8" /><Relationship Type="http://schemas.openxmlformats.org/officeDocument/2006/relationships/slide" Target="/ppt/slides/slide6.xml" Id="R54b248abbcbf4f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89cb3a08ab42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433c5a05c1413f" /><Relationship Type="http://schemas.openxmlformats.org/officeDocument/2006/relationships/notesMaster" Target="/ppt/notesMasters/notesMaster1.xml" Id="R15f18c8aed0844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67de081bdd4e89" /><Relationship Type="http://schemas.openxmlformats.org/officeDocument/2006/relationships/notesMaster" Target="/ppt/notesMasters/notesMaster1.xml" Id="Rdbe18e083efb41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85611a634a49f2" /><Relationship Type="http://schemas.openxmlformats.org/officeDocument/2006/relationships/notesMaster" Target="/ppt/notesMasters/notesMaster1.xml" Id="Rb3297033da4141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7e86f0fe824605" /><Relationship Type="http://schemas.openxmlformats.org/officeDocument/2006/relationships/notesMaster" Target="/ppt/notesMasters/notesMaster1.xml" Id="Rb823109f524f4b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0145fb6d7a4867" /><Relationship Type="http://schemas.openxmlformats.org/officeDocument/2006/relationships/notesMaster" Target="/ppt/notesMasters/notesMaster1.xml" Id="R209a2d81fae240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dbf663566f4d65" /><Relationship Type="http://schemas.openxmlformats.org/officeDocument/2006/relationships/notesMaster" Target="/ppt/notesMasters/notesMaster1.xml" Id="R98762d2840104f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market-reference slide supplied by the user.</a:t>
            </a:r>
          </a:p>
          <a:p xmlns:a="http://schemas.openxmlformats.org/drawingml/2006/main">
            <a:r>
              <a:t>Timing: 0:35. Talk track: Wireless bridges should compete on deployment economics and lifecycle reliability.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market-reference slides supplied by the user; values unchanged from source deck.</a:t>
            </a:r>
          </a:p>
          <a:p xmlns:a="http://schemas.openxmlformats.org/drawingml/2006/main">
            <a:r>
              <a:t>Timing: 0:50. Talk track: Anchor on the $1B theoretical serviceable pool and the project conditions where bridges win.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market-reference slides supplied by the user. CAGR: 5.2% serviceable pool; 4.9% enterprise network.</a:t>
            </a:r>
          </a:p>
          <a:p xmlns:a="http://schemas.openxmlformats.org/drawingml/2006/main">
            <a:r>
              <a:t>Timing: 0:45. Talk track: Growth is steady; the serviceable pool is expanding faster than the carrier market.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Pain-point weights are a planning hypothesis from the source deck, not a third-party survey.</a:t>
            </a:r>
          </a:p>
          <a:p xmlns:a="http://schemas.openxmlformats.org/drawingml/2006/main">
            <a:r>
              <a:t>Timing: 0:55. Talk track: Deployment and stability account for 52% of the assumed pain mix.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Portfolio recommendation synthesized from the source deck.</a:t>
            </a:r>
          </a:p>
          <a:p xmlns:a="http://schemas.openxmlformats.org/drawingml/2006/main">
            <a:r>
              <a:t>Timing: 0:55. Talk track: Lead with the high-throughput tier, use short-range for volume, and long-range for project wins.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Priority scenarios and package logic are synthesized from the user-provided market-reference slides.</a:t>
            </a:r>
          </a:p>
          <a:p xmlns:a="http://schemas.openxmlformats.org/drawingml/2006/main">
            <a:r>
              <a:t>Timing: 1:00. Talk track: Start with video backhaul, then replicate the package across campus, temporary-site and rural projects. Close on the two-week validation sprint.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ec6fe89654a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661f4b7dab44ac" /><Relationship Type="http://schemas.openxmlformats.org/officeDocument/2006/relationships/slideLayout" Target="/ppt/slideLayouts/slideLayout1.xml" Id="Rcda62566b3664f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a62566b366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22f36086c4e93" /><Relationship Type="http://schemas.openxmlformats.org/officeDocument/2006/relationships/image" Target="/ppt/media/image.jpeg" Id="Rb30b8f0288194447" /><Relationship Type="http://schemas.openxmlformats.org/officeDocument/2006/relationships/notesSlide" Target="/ppt/notesSlides/notesSlide1.xml" Id="R9956a95b74ed4f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d818de81943bf" /><Relationship Type="http://schemas.openxmlformats.org/officeDocument/2006/relationships/notesSlide" Target="/ppt/notesSlides/notesSlide2.xml" Id="Rce6e1faeab4a4f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94b4b24e0457d" /><Relationship Type="http://schemas.openxmlformats.org/officeDocument/2006/relationships/chart" Target="/ppt/slides/charts/chart1.xml" Id="R154487bd5c5f46c4" /><Relationship Type="http://schemas.openxmlformats.org/officeDocument/2006/relationships/notesSlide" Target="/ppt/notesSlides/notesSlide3.xml" Id="Rc948f859a05149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9beeafff54237" /><Relationship Type="http://schemas.openxmlformats.org/officeDocument/2006/relationships/chart" Target="/ppt/slides/charts/chart2.xml" Id="R1d088fc4374940a6" /><Relationship Type="http://schemas.openxmlformats.org/officeDocument/2006/relationships/notesSlide" Target="/ppt/notesSlides/notesSlide4.xml" Id="R21dfb4a13e2a48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3c32bbaf14889" /><Relationship Type="http://schemas.openxmlformats.org/officeDocument/2006/relationships/notesSlide" Target="/ppt/notesSlides/notesSlide5.xml" Id="R0ca5b142d6ac46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4383576a24b72" /><Relationship Type="http://schemas.openxmlformats.org/officeDocument/2006/relationships/notesSlide" Target="/ppt/notesSlides/notesSlide6.xml" Id="R35ab1b2ea0ef4cd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Carrier market</c:v>
          </c:tx>
          <c:spPr>
            <a:ln xmlns:a="http://schemas.openxmlformats.org/drawingml/2006/main" w="28575">
              <a:solidFill>
                <a:srgbClr val="C9CED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9CED3"/>
              </a:solidFill>
            </c:spPr>
          </c:marker>
          <c:cat>
            <c:numLit>
              <c:formatCode>General</c:formatCode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2026</c:v>
              </c:pt>
              <c:pt idx="4">
                <c:v>2027</c:v>
              </c:pt>
            </c:num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102.7</c:v>
              </c:pt>
              <c:pt idx="2">
                <c:v>106.4</c:v>
              </c:pt>
              <c:pt idx="3">
                <c:v>109.1</c:v>
              </c:pt>
              <c:pt idx="4">
                <c:v>112.7</c:v>
              </c:pt>
            </c:numLit>
          </c:val>
        </c:ser>
        <c:ser>
          <c:idx val="1"/>
          <c:order val="1"/>
          <c:tx>
            <c:v>Enterprise network</c:v>
          </c:tx>
          <c:spPr>
            <a:ln xmlns:a="http://schemas.openxmlformats.org/drawingml/2006/main" w="38100">
              <a:solidFill>
                <a:srgbClr val="2376B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376B7"/>
              </a:solidFill>
            </c:spPr>
          </c:marker>
          <c:cat>
            <c:numLit>
              <c:formatCode>General</c:formatCode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2026</c:v>
              </c:pt>
              <c:pt idx="4">
                <c:v>2027</c:v>
              </c:pt>
            </c:num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104.2</c:v>
              </c:pt>
              <c:pt idx="2">
                <c:v>108.3</c:v>
              </c:pt>
              <c:pt idx="3">
                <c:v>112.5</c:v>
              </c:pt>
              <c:pt idx="4">
                <c:v>120.8</c:v>
              </c:pt>
            </c:numLit>
          </c:val>
        </c:ser>
        <c:ser>
          <c:idx val="2"/>
          <c:order val="2"/>
          <c:tx>
            <c:v>Serviceable enterprise pool</c:v>
          </c:tx>
          <c:spPr>
            <a:ln xmlns:a="http://schemas.openxmlformats.org/drawingml/2006/main" w="38100">
              <a:solidFill>
                <a:srgbClr val="D71920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D71920"/>
              </a:solidFill>
            </c:spPr>
          </c:marker>
          <c:cat>
            <c:numLit>
              <c:formatCode>General</c:formatCode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2026</c:v>
              </c:pt>
              <c:pt idx="4">
                <c:v>2027</c:v>
              </c:pt>
            </c:num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104.3</c:v>
              </c:pt>
              <c:pt idx="2">
                <c:v>110</c:v>
              </c:pt>
              <c:pt idx="3">
                <c:v>117.1</c:v>
              </c:pt>
              <c:pt idx="4">
                <c:v>122.9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6"/>
          <c:min val="9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9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Pain-point weight</c:v>
          </c:tx>
          <c:dPt>
            <c:idx val="0"/>
            <c:spPr>
              <a:solidFill xmlns:a="http://schemas.openxmlformats.org/drawingml/2006/main">
                <a:srgbClr val="D71920"/>
              </a:solidFill>
            </c:spPr>
          </c:dPt>
          <c:dPt>
            <c:idx val="1"/>
            <c:spPr>
              <a:solidFill xmlns:a="http://schemas.openxmlformats.org/drawingml/2006/main">
                <a:srgbClr val="14344A"/>
              </a:solidFill>
            </c:spPr>
          </c:dPt>
          <c:dPt>
            <c:idx val="2"/>
            <c:spPr>
              <a:solidFill xmlns:a="http://schemas.openxmlformats.org/drawingml/2006/main">
                <a:srgbClr val="2376B7"/>
              </a:solidFill>
            </c:spPr>
          </c:dPt>
          <c:dPt>
            <c:idx val="3"/>
            <c:spPr>
              <a:solidFill xmlns:a="http://schemas.openxmlformats.org/drawingml/2006/main">
                <a:srgbClr val="69A9D2"/>
              </a:solidFill>
            </c:spPr>
          </c:dPt>
          <c:dPt>
            <c:idx val="4"/>
            <c:spPr>
              <a:solidFill xmlns:a="http://schemas.openxmlformats.org/drawingml/2006/main">
                <a:srgbClr val="B9D9EA"/>
              </a:solidFill>
            </c:spPr>
          </c:dPt>
          <c:dPt>
            <c:idx val="5"/>
            <c:spPr>
              <a:solidFill xmlns:a="http://schemas.openxmlformats.org/drawingml/2006/main">
                <a:srgbClr val="DADDE0"/>
              </a:solidFill>
            </c:spPr>
          </c:dPt>
          <c:cat>
            <c:strLit>
              <c:ptCount val="6"/>
              <c:pt idx="0">
                <c:v>Deployment</c:v>
              </c:pt>
              <c:pt idx="1">
                <c:v>Link stability</c:v>
              </c:pt>
              <c:pt idx="2">
                <c:v>Distance</c:v>
              </c:pt>
              <c:pt idx="3">
                <c:v>Power &amp; protection</c:v>
              </c:pt>
              <c:pt idx="4">
                <c:v>O&amp;M</c:v>
              </c:pt>
              <c:pt idx="5">
                <c:v>Cost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24</c:v>
              </c:pt>
              <c:pt idx="2">
                <c:v>18</c:v>
              </c:pt>
              <c:pt idx="3">
                <c:v>13</c:v>
              </c:pt>
              <c:pt idx="4">
                <c:v>10</c:v>
              </c:pt>
              <c:pt idx="5">
                <c:v>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182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270"/>
        <c:holeSize val="58"/>
      </c:doughnutChart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b8f0288194447"/>
          <a:srcRect xmlns:a="http://schemas.openxmlformats.org/drawingml/2006/main" l="19271" t="0" r="192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">
            <a:extLst xmlns:a="http://schemas.openxmlformats.org/drawingml/2006/main">
              <a:ext uri="{FF2B5EF4-FFF2-40B4-BE49-F238E27FC236}">
                <a16:creationId xmlns:a16="http://schemas.microsoft.com/office/drawing/2014/main" id="{D61E862C-4623-4C43-8821-8DD54004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96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red">
            <a:extLst xmlns:a="http://schemas.openxmlformats.org/drawingml/2006/main">
              <a:ext uri="{FF2B5EF4-FFF2-40B4-BE49-F238E27FC236}">
                <a16:creationId xmlns:a16="http://schemas.microsoft.com/office/drawing/2014/main" id="{9317D3F1-BC2F-4525-9C30-B0445A19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ABCF4F1-5E41-4CBE-B2FC-C728EB84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OVERSEAS SMB · WIRELESS BRIDGE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6C5301-4BCA-4780-98DB-34185D0C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Wireless Bridge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Market Analysis</a:t>
            </a:r>
          </a:p>
        </p:txBody>
      </p:sp>
      <p:sp>
        <p:nvSpPr>
          <p:cNvPr id="6" name="cover-sub">
            <a:extLst xmlns:a="http://schemas.openxmlformats.org/drawingml/2006/main">
              <a:ext uri="{FF2B5EF4-FFF2-40B4-BE49-F238E27FC236}">
                <a16:creationId xmlns:a16="http://schemas.microsoft.com/office/drawing/2014/main" id="{07B4A5C1-1692-47BD-AA98-003F9C9D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518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Market size | Growth | Customer pains | Portfolio</a:t>
            </a:r>
          </a:p>
        </p:txBody>
      </p:sp>
      <p:sp>
        <p:nvSpPr>
          <p:cNvPr id="7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026ABAC5-D218-4ED5-94CC-517FE0B4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3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44A"/>
                </a:solidFill>
                <a:latin typeface="Microsoft YaHei"/>
                <a:ea typeface="Microsoft YaHei"/>
                <a:cs typeface="Microsoft YaHei"/>
              </a:rPr>
              <a:t>Win on lower deployment cost, stronger links and lighter operations—not on cheaper wireless hardware.</a:t>
            </a:r>
          </a:p>
        </p:txBody>
      </p:sp>
      <p:sp>
        <p:nvSpPr>
          <p:cNvPr id="8" name="cover-brand">
            <a:extLst xmlns:a="http://schemas.openxmlformats.org/drawingml/2006/main">
              <a:ext uri="{FF2B5EF4-FFF2-40B4-BE49-F238E27FC236}">
                <a16:creationId xmlns:a16="http://schemas.microsoft.com/office/drawing/2014/main" id="{AA0C21A1-5A11-419F-9462-BE8C4879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HIKVISION</a:t>
            </a:r>
          </a:p>
        </p:txBody>
      </p:sp>
    </p:spTree>
    <p:extLst>
      <p:ext uri="{BB962C8B-B14F-4D97-AF65-F5344CB8AC3E}">
        <p14:creationId xmlns:p14="http://schemas.microsoft.com/office/powerpoint/2010/main" val="649542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2">
            <a:extLst xmlns:a="http://schemas.openxmlformats.org/drawingml/2006/main">
              <a:ext uri="{FF2B5EF4-FFF2-40B4-BE49-F238E27FC236}">
                <a16:creationId xmlns:a16="http://schemas.microsoft.com/office/drawing/2014/main" id="{4CBDAB8D-02C5-41A6-89B4-1F120EC9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Overseas SMB is a clear bridge entry point</a:t>
            </a:r>
          </a:p>
        </p:txBody>
      </p:sp>
      <p:sp>
        <p:nvSpPr>
          <p:cNvPr id="2" name="brand-2">
            <a:extLst xmlns:a="http://schemas.openxmlformats.org/drawingml/2006/main">
              <a:ext uri="{FF2B5EF4-FFF2-40B4-BE49-F238E27FC236}">
                <a16:creationId xmlns:a16="http://schemas.microsoft.com/office/drawing/2014/main" id="{7EAF0070-B807-438E-9C69-D6FABC00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HIKVISION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76526A94-BD7F-4808-92D7-86244D0C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D5EB8C86-593D-4881-A3BB-B4BB47C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s2-lead">
            <a:extLst xmlns:a="http://schemas.openxmlformats.org/drawingml/2006/main">
              <a:ext uri="{FF2B5EF4-FFF2-40B4-BE49-F238E27FC236}">
                <a16:creationId xmlns:a16="http://schemas.microsoft.com/office/drawing/2014/main" id="{942414F4-A051-4902-B1D4-68F87B11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Wireless bridges win where cabling is costly, launch is urgent and environments are complex—not in generic Wi-Fi price competition.</a:t>
            </a:r>
          </a:p>
        </p:txBody>
      </p:sp>
      <p:sp>
        <p:nvSpPr>
          <p:cNvPr id="6" name="metric-$79.6B-56">
            <a:extLst xmlns:a="http://schemas.openxmlformats.org/drawingml/2006/main">
              <a:ext uri="{FF2B5EF4-FFF2-40B4-BE49-F238E27FC236}">
                <a16:creationId xmlns:a16="http://schemas.microsoft.com/office/drawing/2014/main" id="{13212690-B6AC-4CB5-91F7-07FC79F0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552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accent-$79.6B-56">
            <a:extLst xmlns:a="http://schemas.openxmlformats.org/drawingml/2006/main">
              <a:ext uri="{FF2B5EF4-FFF2-40B4-BE49-F238E27FC236}">
                <a16:creationId xmlns:a16="http://schemas.microsoft.com/office/drawing/2014/main" id="{BA6C88C4-2238-4167-B16D-B42CDFD0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$79.6B-56">
            <a:extLst xmlns:a="http://schemas.openxmlformats.org/drawingml/2006/main">
              <a:ext uri="{FF2B5EF4-FFF2-40B4-BE49-F238E27FC236}">
                <a16:creationId xmlns:a16="http://schemas.microsoft.com/office/drawing/2014/main" id="{595728FD-7194-488A-AA66-6D1BFCCA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44A"/>
                </a:solidFill>
                <a:latin typeface="Microsoft YaHei"/>
                <a:ea typeface="Microsoft YaHei"/>
                <a:cs typeface="Microsoft YaHei"/>
              </a:rPr>
              <a:t>$79.6B</a:t>
            </a:r>
          </a:p>
        </p:txBody>
      </p:sp>
      <p:sp>
        <p:nvSpPr>
          <p:cNvPr id="9" name="metric-label-$79.6B-56">
            <a:extLst xmlns:a="http://schemas.openxmlformats.org/drawingml/2006/main">
              <a:ext uri="{FF2B5EF4-FFF2-40B4-BE49-F238E27FC236}">
                <a16:creationId xmlns:a16="http://schemas.microsoft.com/office/drawing/2014/main" id="{BF1D5847-9F01-4243-B1BB-FBBCFB53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Global network equipment (2023)</a:t>
            </a:r>
          </a:p>
        </p:txBody>
      </p:sp>
      <p:sp>
        <p:nvSpPr>
          <p:cNvPr id="10" name="metric-80%-348">
            <a:extLst xmlns:a="http://schemas.openxmlformats.org/drawingml/2006/main">
              <a:ext uri="{FF2B5EF4-FFF2-40B4-BE49-F238E27FC236}">
                <a16:creationId xmlns:a16="http://schemas.microsoft.com/office/drawing/2014/main" id="{DF51F11F-E9C1-4910-BEEA-ADE71BA0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2552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accent-80%-348">
            <a:extLst xmlns:a="http://schemas.openxmlformats.org/drawingml/2006/main">
              <a:ext uri="{FF2B5EF4-FFF2-40B4-BE49-F238E27FC236}">
                <a16:creationId xmlns:a16="http://schemas.microsoft.com/office/drawing/2014/main" id="{7E332E3E-A011-4A85-AD17-0C965F80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alue-80%-348">
            <a:extLst xmlns:a="http://schemas.openxmlformats.org/drawingml/2006/main">
              <a:ext uri="{FF2B5EF4-FFF2-40B4-BE49-F238E27FC236}">
                <a16:creationId xmlns:a16="http://schemas.microsoft.com/office/drawing/2014/main" id="{4CB8DC8D-C41A-4E6F-B2E2-F1F67494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13" name="metric-label-80%-348">
            <a:extLst xmlns:a="http://schemas.openxmlformats.org/drawingml/2006/main">
              <a:ext uri="{FF2B5EF4-FFF2-40B4-BE49-F238E27FC236}">
                <a16:creationId xmlns:a16="http://schemas.microsoft.com/office/drawing/2014/main" id="{AD614748-6E33-4C1B-A898-03CAC0BF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Overseas share, ≈$63B</a:t>
            </a:r>
          </a:p>
        </p:txBody>
      </p:sp>
      <p:sp>
        <p:nvSpPr>
          <p:cNvPr id="14" name="metric-$10.8B-640">
            <a:extLst xmlns:a="http://schemas.openxmlformats.org/drawingml/2006/main">
              <a:ext uri="{FF2B5EF4-FFF2-40B4-BE49-F238E27FC236}">
                <a16:creationId xmlns:a16="http://schemas.microsoft.com/office/drawing/2014/main" id="{A1DC6884-CF52-4372-8523-46513546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552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accent-$10.8B-640">
            <a:extLst xmlns:a="http://schemas.openxmlformats.org/drawingml/2006/main">
              <a:ext uri="{FF2B5EF4-FFF2-40B4-BE49-F238E27FC236}">
                <a16:creationId xmlns:a16="http://schemas.microsoft.com/office/drawing/2014/main" id="{AB8AE786-943A-477A-BB09-BB69D320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A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value-$10.8B-640">
            <a:extLst xmlns:a="http://schemas.openxmlformats.org/drawingml/2006/main">
              <a:ext uri="{FF2B5EF4-FFF2-40B4-BE49-F238E27FC236}">
                <a16:creationId xmlns:a16="http://schemas.microsoft.com/office/drawing/2014/main" id="{233EDB51-6BD3-4440-8E92-BA6F807F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69A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69A9D2"/>
                </a:solidFill>
                <a:latin typeface="Microsoft YaHei"/>
                <a:ea typeface="Microsoft YaHei"/>
                <a:cs typeface="Microsoft YaHei"/>
              </a:rPr>
              <a:t>$10.8B</a:t>
            </a:r>
          </a:p>
        </p:txBody>
      </p:sp>
      <p:sp>
        <p:nvSpPr>
          <p:cNvPr id="17" name="metric-label-$10.8B-640">
            <a:extLst xmlns:a="http://schemas.openxmlformats.org/drawingml/2006/main">
              <a:ext uri="{FF2B5EF4-FFF2-40B4-BE49-F238E27FC236}">
                <a16:creationId xmlns:a16="http://schemas.microsoft.com/office/drawing/2014/main" id="{9B6CDB55-4822-44D9-BB7C-CEA73E0E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Enterprise WLAN market</a:t>
            </a:r>
          </a:p>
        </p:txBody>
      </p:sp>
      <p:sp>
        <p:nvSpPr>
          <p:cNvPr id="18" name="metric-≈$1B-932">
            <a:extLst xmlns:a="http://schemas.openxmlformats.org/drawingml/2006/main">
              <a:ext uri="{FF2B5EF4-FFF2-40B4-BE49-F238E27FC236}">
                <a16:creationId xmlns:a16="http://schemas.microsoft.com/office/drawing/2014/main" id="{43E1CBCB-A4CC-4AD6-BB27-267B367A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66950"/>
            <a:ext cx="27813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ric-accent-≈$1B-932">
            <a:extLst xmlns:a="http://schemas.openxmlformats.org/drawingml/2006/main">
              <a:ext uri="{FF2B5EF4-FFF2-40B4-BE49-F238E27FC236}">
                <a16:creationId xmlns:a16="http://schemas.microsoft.com/office/drawing/2014/main" id="{3DA33E98-A0DB-4345-8EF6-65CA4280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669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ric-value-≈$1B-932">
            <a:extLst xmlns:a="http://schemas.openxmlformats.org/drawingml/2006/main">
              <a:ext uri="{FF2B5EF4-FFF2-40B4-BE49-F238E27FC236}">
                <a16:creationId xmlns:a16="http://schemas.microsoft.com/office/drawing/2014/main" id="{4F78DFBA-69A9-4590-8C77-BFB804FD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1460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≈$1B</a:t>
            </a:r>
          </a:p>
        </p:txBody>
      </p:sp>
      <p:sp>
        <p:nvSpPr>
          <p:cNvPr id="21" name="metric-label-≈$1B-932">
            <a:extLst xmlns:a="http://schemas.openxmlformats.org/drawingml/2006/main">
              <a:ext uri="{FF2B5EF4-FFF2-40B4-BE49-F238E27FC236}">
                <a16:creationId xmlns:a16="http://schemas.microsoft.com/office/drawing/2014/main" id="{E710FB6D-18BA-494E-A60F-467B8AC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575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Theoretical SMB serviceable pool</a:t>
            </a:r>
          </a:p>
        </p:txBody>
      </p:sp>
      <p:sp>
        <p:nvSpPr>
          <p:cNvPr id="22" name="s2-takeaway">
            <a:extLst xmlns:a="http://schemas.openxmlformats.org/drawingml/2006/main">
              <a:ext uri="{FF2B5EF4-FFF2-40B4-BE49-F238E27FC236}">
                <a16:creationId xmlns:a16="http://schemas.microsoft.com/office/drawing/2014/main" id="{73795A46-13B1-491F-B49E-878C4C36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11125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2-takeaway-title">
            <a:extLst xmlns:a="http://schemas.openxmlformats.org/drawingml/2006/main">
              <a:ext uri="{FF2B5EF4-FFF2-40B4-BE49-F238E27FC236}">
                <a16:creationId xmlns:a16="http://schemas.microsoft.com/office/drawing/2014/main" id="{9BF1642D-733F-4D19-8641-D655720F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What it means</a:t>
            </a:r>
          </a:p>
        </p:txBody>
      </p:sp>
      <p:sp>
        <p:nvSpPr>
          <p:cNvPr id="24" name="s2-takeaway-body">
            <a:extLst xmlns:a="http://schemas.openxmlformats.org/drawingml/2006/main">
              <a:ext uri="{FF2B5EF4-FFF2-40B4-BE49-F238E27FC236}">
                <a16:creationId xmlns:a16="http://schemas.microsoft.com/office/drawing/2014/main" id="{48117E37-F9F4-4123-A611-620E781E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Prioritize video backhaul, cross-building links, temporary sites and rural coverage—projects where wireless replaces expensive civil works.</a:t>
            </a:r>
          </a:p>
        </p:txBody>
      </p:sp>
      <p:sp>
        <p:nvSpPr>
          <p:cNvPr id="25" name="s2-source">
            <a:extLst xmlns:a="http://schemas.openxmlformats.org/drawingml/2006/main">
              <a:ext uri="{FF2B5EF4-FFF2-40B4-BE49-F238E27FC236}">
                <a16:creationId xmlns:a16="http://schemas.microsoft.com/office/drawing/2014/main" id="{2BC67E8C-C92C-48EC-AF9F-F7CBB3B5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Source: internal market-reference slides provided by the user; USD.</a:t>
            </a:r>
          </a:p>
        </p:txBody>
      </p:sp>
    </p:spTree>
    <p:extLst>
      <p:ext uri="{BB962C8B-B14F-4D97-AF65-F5344CB8AC3E}">
        <p14:creationId xmlns:p14="http://schemas.microsoft.com/office/powerpoint/2010/main" val="904072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">
            <a:extLst xmlns:a="http://schemas.openxmlformats.org/drawingml/2006/main">
              <a:ext uri="{FF2B5EF4-FFF2-40B4-BE49-F238E27FC236}">
                <a16:creationId xmlns:a16="http://schemas.microsoft.com/office/drawing/2014/main" id="{B2AB7E6C-5EA3-4896-AA44-F3B91E8F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Serviceable growth outpaces the carrier market</a:t>
            </a:r>
          </a:p>
        </p:txBody>
      </p:sp>
      <p:sp>
        <p:nvSpPr>
          <p:cNvPr id="2" name="brand-4">
            <a:extLst xmlns:a="http://schemas.openxmlformats.org/drawingml/2006/main">
              <a:ext uri="{FF2B5EF4-FFF2-40B4-BE49-F238E27FC236}">
                <a16:creationId xmlns:a16="http://schemas.microsoft.com/office/drawing/2014/main" id="{4731DC68-34A8-4426-8CEE-1BCE5620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HIKVISION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5B08E73E-A627-45B5-947B-BAF71365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31E397C-2DD9-4856-B875-621C2069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7239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4487bd5c5f46c4"/>
          </a:graphicData>
        </a:graphic>
      </p:graphicFrame>
      <p:sp>
        <p:nvSpPr>
          <p:cNvPr id="6" name="s4-index">
            <a:extLst xmlns:a="http://schemas.openxmlformats.org/drawingml/2006/main">
              <a:ext uri="{FF2B5EF4-FFF2-40B4-BE49-F238E27FC236}">
                <a16:creationId xmlns:a16="http://schemas.microsoft.com/office/drawing/2014/main" id="{C2F32BC0-A43C-456B-B07B-BB2C1024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Growth index (2023=100)</a:t>
            </a:r>
          </a:p>
        </p:txBody>
      </p:sp>
      <p:sp>
        <p:nvSpPr>
          <p:cNvPr id="7" name="metric-5.2%-858">
            <a:extLst xmlns:a="http://schemas.openxmlformats.org/drawingml/2006/main">
              <a:ext uri="{FF2B5EF4-FFF2-40B4-BE49-F238E27FC236}">
                <a16:creationId xmlns:a16="http://schemas.microsoft.com/office/drawing/2014/main" id="{6236E223-4026-4968-BCEC-DE76BBF1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30670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accent-5.2%-858">
            <a:extLst xmlns:a="http://schemas.openxmlformats.org/drawingml/2006/main">
              <a:ext uri="{FF2B5EF4-FFF2-40B4-BE49-F238E27FC236}">
                <a16:creationId xmlns:a16="http://schemas.microsoft.com/office/drawing/2014/main" id="{1ED045B2-7F02-40F3-9E3E-20B548B1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-5.2%-858">
            <a:extLst xmlns:a="http://schemas.openxmlformats.org/drawingml/2006/main">
              <a:ext uri="{FF2B5EF4-FFF2-40B4-BE49-F238E27FC236}">
                <a16:creationId xmlns:a16="http://schemas.microsoft.com/office/drawing/2014/main" id="{C0F66196-C8EC-4365-A2B8-69D52B4A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5.2%</a:t>
            </a:r>
          </a:p>
        </p:txBody>
      </p:sp>
      <p:sp>
        <p:nvSpPr>
          <p:cNvPr id="10" name="metric-label-5.2%-858">
            <a:extLst xmlns:a="http://schemas.openxmlformats.org/drawingml/2006/main">
              <a:ext uri="{FF2B5EF4-FFF2-40B4-BE49-F238E27FC236}">
                <a16:creationId xmlns:a16="http://schemas.microsoft.com/office/drawing/2014/main" id="{287488E8-C9C4-4C75-8B7C-BA004315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Serviceable pool CAGR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2023–2028</a:t>
            </a:r>
          </a:p>
        </p:txBody>
      </p:sp>
      <p:sp>
        <p:nvSpPr>
          <p:cNvPr id="11" name="metric-4.9%-858">
            <a:extLst xmlns:a="http://schemas.openxmlformats.org/drawingml/2006/main">
              <a:ext uri="{FF2B5EF4-FFF2-40B4-BE49-F238E27FC236}">
                <a16:creationId xmlns:a16="http://schemas.microsoft.com/office/drawing/2014/main" id="{2520D7AC-EA2A-4263-B4CA-58B6E32B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30670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accent-4.9%-858">
            <a:extLst xmlns:a="http://schemas.openxmlformats.org/drawingml/2006/main">
              <a:ext uri="{FF2B5EF4-FFF2-40B4-BE49-F238E27FC236}">
                <a16:creationId xmlns:a16="http://schemas.microsoft.com/office/drawing/2014/main" id="{0549244B-9A06-4B93-92B5-7AEB4822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4.9%-858">
            <a:extLst xmlns:a="http://schemas.openxmlformats.org/drawingml/2006/main">
              <a:ext uri="{FF2B5EF4-FFF2-40B4-BE49-F238E27FC236}">
                <a16:creationId xmlns:a16="http://schemas.microsoft.com/office/drawing/2014/main" id="{7B329FAE-691D-4C12-BAFD-BB94E71A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rPr>
              <a:t>4.9%</a:t>
            </a:r>
          </a:p>
        </p:txBody>
      </p:sp>
      <p:sp>
        <p:nvSpPr>
          <p:cNvPr id="14" name="metric-label-4.9%-858">
            <a:extLst xmlns:a="http://schemas.openxmlformats.org/drawingml/2006/main">
              <a:ext uri="{FF2B5EF4-FFF2-40B4-BE49-F238E27FC236}">
                <a16:creationId xmlns:a16="http://schemas.microsoft.com/office/drawing/2014/main" id="{E2DC01B7-DDA1-4A14-9CC6-36C051DE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8150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Enterprise network CAGR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2023–2027</a:t>
            </a:r>
          </a:p>
        </p:txBody>
      </p:sp>
      <p:sp>
        <p:nvSpPr>
          <p:cNvPr id="15" name="s4-bottom">
            <a:extLst xmlns:a="http://schemas.openxmlformats.org/drawingml/2006/main">
              <a:ext uri="{FF2B5EF4-FFF2-40B4-BE49-F238E27FC236}">
                <a16:creationId xmlns:a16="http://schemas.microsoft.com/office/drawing/2014/main" id="{9CBFE8D5-9B90-4F53-80DE-7FEE2142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067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5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Drivers: wireless substitution for cabling, higher video bandwidth, SMB digitization and standardized channel delivery.</a:t>
            </a:r>
          </a:p>
        </p:txBody>
      </p:sp>
      <p:sp>
        <p:nvSpPr>
          <p:cNvPr id="16" name="s4-source">
            <a:extLst xmlns:a="http://schemas.openxmlformats.org/drawingml/2006/main">
              <a:ext uri="{FF2B5EF4-FFF2-40B4-BE49-F238E27FC236}">
                <a16:creationId xmlns:a16="http://schemas.microsoft.com/office/drawing/2014/main" id="{1AB45D39-6BAF-4A03-B1A6-F1514A5C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Source values indexed to 2023; CAGR calculated in the source deck.</a:t>
            </a:r>
          </a:p>
        </p:txBody>
      </p:sp>
    </p:spTree>
    <p:extLst>
      <p:ext uri="{BB962C8B-B14F-4D97-AF65-F5344CB8AC3E}">
        <p14:creationId xmlns:p14="http://schemas.microsoft.com/office/powerpoint/2010/main" val="1731395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5">
            <a:extLst xmlns:a="http://schemas.openxmlformats.org/drawingml/2006/main">
              <a:ext uri="{FF2B5EF4-FFF2-40B4-BE49-F238E27FC236}">
                <a16:creationId xmlns:a16="http://schemas.microsoft.com/office/drawing/2014/main" id="{67432191-D73A-4B25-A168-D2D08C4D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Easy deployment and stable links come first</a:t>
            </a:r>
          </a:p>
        </p:txBody>
      </p:sp>
      <p:sp>
        <p:nvSpPr>
          <p:cNvPr id="2" name="brand-5">
            <a:extLst xmlns:a="http://schemas.openxmlformats.org/drawingml/2006/main">
              <a:ext uri="{FF2B5EF4-FFF2-40B4-BE49-F238E27FC236}">
                <a16:creationId xmlns:a16="http://schemas.microsoft.com/office/drawing/2014/main" id="{192A505B-113C-4466-A0F1-38893CB5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HIKVISION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2E757791-6378-4ED2-8344-61750C6A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9CC46EBD-B497-4E76-B4A1-EDF7A3B1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33400" y="1352550"/>
          <a:ext xmlns:a="http://schemas.openxmlformats.org/drawingml/2006/main" cx="5715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088fc4374940a6"/>
          </a:graphicData>
        </a:graphic>
      </p:graphicFrame>
      <p:sp>
        <p:nvSpPr>
          <p:cNvPr id="6" name="s5-hyp">
            <a:extLst xmlns:a="http://schemas.openxmlformats.org/drawingml/2006/main">
              <a:ext uri="{FF2B5EF4-FFF2-40B4-BE49-F238E27FC236}">
                <a16:creationId xmlns:a16="http://schemas.microsoft.com/office/drawing/2014/main" id="{B46A36E3-0265-4152-BD42-7C3A890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05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Planning hypothesis</a:t>
            </a:r>
          </a:p>
        </p:txBody>
      </p:sp>
      <p:sp>
        <p:nvSpPr>
          <p:cNvPr id="7" name="s5-n-0">
            <a:extLst xmlns:a="http://schemas.openxmlformats.org/drawingml/2006/main">
              <a:ext uri="{FF2B5EF4-FFF2-40B4-BE49-F238E27FC236}">
                <a16:creationId xmlns:a16="http://schemas.microsoft.com/office/drawing/2014/main" id="{36B1F395-AB0F-43A4-9367-E9A3FB85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85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s5-t-0">
            <a:extLst xmlns:a="http://schemas.openxmlformats.org/drawingml/2006/main">
              <a:ext uri="{FF2B5EF4-FFF2-40B4-BE49-F238E27FC236}">
                <a16:creationId xmlns:a16="http://schemas.microsoft.com/office/drawing/2014/main" id="{797364B2-4C70-4840-B6E3-52E72D7D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85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0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Deployment complexity</a:t>
            </a:r>
          </a:p>
        </p:txBody>
      </p:sp>
      <p:sp>
        <p:nvSpPr>
          <p:cNvPr id="9" name="s5-b-0">
            <a:extLst xmlns:a="http://schemas.openxmlformats.org/drawingml/2006/main">
              <a:ext uri="{FF2B5EF4-FFF2-40B4-BE49-F238E27FC236}">
                <a16:creationId xmlns:a16="http://schemas.microsoft.com/office/drawing/2014/main" id="{F4F52314-998E-4B49-9C2A-7B73990F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3829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Pre-paired units, one-click setup and clear alignment feedback</a:t>
            </a:r>
          </a:p>
        </p:txBody>
      </p:sp>
      <p:sp>
        <p:nvSpPr>
          <p:cNvPr id="10" name="s5-r-0">
            <a:extLst xmlns:a="http://schemas.openxmlformats.org/drawingml/2006/main">
              <a:ext uri="{FF2B5EF4-FFF2-40B4-BE49-F238E27FC236}">
                <a16:creationId xmlns:a16="http://schemas.microsoft.com/office/drawing/2014/main" id="{3604A600-6C67-4D99-ABBC-AD98D66A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n-1">
            <a:extLst xmlns:a="http://schemas.openxmlformats.org/drawingml/2006/main">
              <a:ext uri="{FF2B5EF4-FFF2-40B4-BE49-F238E27FC236}">
                <a16:creationId xmlns:a16="http://schemas.microsoft.com/office/drawing/2014/main" id="{2A2D4409-2534-4C28-9BC7-7DEF474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s5-t-1">
            <a:extLst xmlns:a="http://schemas.openxmlformats.org/drawingml/2006/main">
              <a:ext uri="{FF2B5EF4-FFF2-40B4-BE49-F238E27FC236}">
                <a16:creationId xmlns:a16="http://schemas.microsoft.com/office/drawing/2014/main" id="{8CE75090-380D-4032-A96D-9399B213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Stable links</a:t>
            </a:r>
          </a:p>
        </p:txBody>
      </p:sp>
      <p:sp>
        <p:nvSpPr>
          <p:cNvPr id="13" name="s5-b-1">
            <a:extLst xmlns:a="http://schemas.openxmlformats.org/drawingml/2006/main">
              <a:ext uri="{FF2B5EF4-FFF2-40B4-BE49-F238E27FC236}">
                <a16:creationId xmlns:a16="http://schemas.microsoft.com/office/drawing/2014/main" id="{8C2FDFC2-8F4A-4166-A3ED-580CB782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3829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Interference resistance, auto channel selection and consistent throughput</a:t>
            </a:r>
          </a:p>
        </p:txBody>
      </p:sp>
      <p:sp>
        <p:nvSpPr>
          <p:cNvPr id="14" name="s5-r-1">
            <a:extLst xmlns:a="http://schemas.openxmlformats.org/drawingml/2006/main">
              <a:ext uri="{FF2B5EF4-FFF2-40B4-BE49-F238E27FC236}">
                <a16:creationId xmlns:a16="http://schemas.microsoft.com/office/drawing/2014/main" id="{FF84DFBF-6427-4ED4-8733-70CA6DFC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5-n-2">
            <a:extLst xmlns:a="http://schemas.openxmlformats.org/drawingml/2006/main">
              <a:ext uri="{FF2B5EF4-FFF2-40B4-BE49-F238E27FC236}">
                <a16:creationId xmlns:a16="http://schemas.microsoft.com/office/drawing/2014/main" id="{0BD3F844-2218-4914-A912-B9AAADDD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s5-t-2">
            <a:extLst xmlns:a="http://schemas.openxmlformats.org/drawingml/2006/main">
              <a:ext uri="{FF2B5EF4-FFF2-40B4-BE49-F238E27FC236}">
                <a16:creationId xmlns:a16="http://schemas.microsoft.com/office/drawing/2014/main" id="{7DD59D07-BABC-4024-A2AD-482AB678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Outdoor-ready</a:t>
            </a:r>
          </a:p>
        </p:txBody>
      </p:sp>
      <p:sp>
        <p:nvSpPr>
          <p:cNvPr id="17" name="s5-b-2">
            <a:extLst xmlns:a="http://schemas.openxmlformats.org/drawingml/2006/main">
              <a:ext uri="{FF2B5EF4-FFF2-40B4-BE49-F238E27FC236}">
                <a16:creationId xmlns:a16="http://schemas.microsoft.com/office/drawing/2014/main" id="{E567ADE7-8AF4-4671-8BCA-86DDCB46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91050"/>
            <a:ext cx="3829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Weather protection, PoE/surge support and clear distance tiers</a:t>
            </a:r>
          </a:p>
        </p:txBody>
      </p:sp>
      <p:sp>
        <p:nvSpPr>
          <p:cNvPr id="18" name="s5-disclaimer">
            <a:extLst xmlns:a="http://schemas.openxmlformats.org/drawingml/2006/main">
              <a:ext uri="{FF2B5EF4-FFF2-40B4-BE49-F238E27FC236}">
                <a16:creationId xmlns:a16="http://schemas.microsoft.com/office/drawing/2014/main" id="{6FDCE5EE-8598-4F02-B51B-3272DEEF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0545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5-disc-text">
            <a:extLst xmlns:a="http://schemas.openxmlformats.org/drawingml/2006/main">
              <a:ext uri="{FF2B5EF4-FFF2-40B4-BE49-F238E27FC236}">
                <a16:creationId xmlns:a16="http://schemas.microsoft.com/office/drawing/2014/main" id="{C9FCB0FD-E581-45EE-A6FB-D80F38E9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29275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Planning hypothesis—validate through channel interviews and service tickets</a:t>
            </a:r>
          </a:p>
        </p:txBody>
      </p:sp>
    </p:spTree>
    <p:extLst>
      <p:ext uri="{BB962C8B-B14F-4D97-AF65-F5344CB8AC3E}">
        <p14:creationId xmlns:p14="http://schemas.microsoft.com/office/powerpoint/2010/main" val="1983495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itle-7">
            <a:extLst xmlns:a="http://schemas.openxmlformats.org/drawingml/2006/main">
              <a:ext uri="{FF2B5EF4-FFF2-40B4-BE49-F238E27FC236}">
                <a16:creationId xmlns:a16="http://schemas.microsoft.com/office/drawing/2014/main" id="{B78F93CE-688E-4A0F-B442-4ACE813F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Three bridge tiers cover the core use cases</a:t>
            </a:r>
          </a:p>
        </p:txBody>
      </p:sp>
      <p:sp>
        <p:nvSpPr>
          <p:cNvPr id="2" name="brand-7">
            <a:extLst xmlns:a="http://schemas.openxmlformats.org/drawingml/2006/main">
              <a:ext uri="{FF2B5EF4-FFF2-40B4-BE49-F238E27FC236}">
                <a16:creationId xmlns:a16="http://schemas.microsoft.com/office/drawing/2014/main" id="{421E8F3C-84C4-4A36-9067-27F75052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HIKVISION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4F8DA248-B48D-403F-AF5F-7556FDC9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4DA83647-DEEC-41B6-A8B8-F917BEC9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s7-col-0">
            <a:extLst xmlns:a="http://schemas.openxmlformats.org/drawingml/2006/main">
              <a:ext uri="{FF2B5EF4-FFF2-40B4-BE49-F238E27FC236}">
                <a16:creationId xmlns:a16="http://schemas.microsoft.com/office/drawing/2014/main" id="{0ED54803-17B7-42B5-A97F-52F1E07C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33718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top-0">
            <a:extLst xmlns:a="http://schemas.openxmlformats.org/drawingml/2006/main">
              <a:ext uri="{FF2B5EF4-FFF2-40B4-BE49-F238E27FC236}">
                <a16:creationId xmlns:a16="http://schemas.microsoft.com/office/drawing/2014/main" id="{219503F3-F06A-4429-BBBF-F3A35770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title-0">
            <a:extLst xmlns:a="http://schemas.openxmlformats.org/drawingml/2006/main">
              <a:ext uri="{FF2B5EF4-FFF2-40B4-BE49-F238E27FC236}">
                <a16:creationId xmlns:a16="http://schemas.microsoft.com/office/drawing/2014/main" id="{DAF00421-EA77-4E11-B20E-AC278F09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Short-range</a:t>
            </a:r>
          </a:p>
        </p:txBody>
      </p:sp>
      <p:sp>
        <p:nvSpPr>
          <p:cNvPr id="8" name="s7-tag-0">
            <a:extLst xmlns:a="http://schemas.openxmlformats.org/drawingml/2006/main">
              <a:ext uri="{FF2B5EF4-FFF2-40B4-BE49-F238E27FC236}">
                <a16:creationId xmlns:a16="http://schemas.microsoft.com/office/drawing/2014/main" id="{A5199E55-1C54-4B6A-AB83-4E366BAB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rPr>
              <a:t>Volume / fast setup</a:t>
            </a:r>
          </a:p>
        </p:txBody>
      </p:sp>
      <p:sp>
        <p:nvSpPr>
          <p:cNvPr id="9" name="s7-r1-0">
            <a:extLst xmlns:a="http://schemas.openxmlformats.org/drawingml/2006/main">
              <a:ext uri="{FF2B5EF4-FFF2-40B4-BE49-F238E27FC236}">
                <a16:creationId xmlns:a16="http://schemas.microsoft.com/office/drawing/2014/main" id="{4EBB098A-BB5D-4E56-BD6F-BAB4F071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7-scene-h-0">
            <a:extLst xmlns:a="http://schemas.openxmlformats.org/drawingml/2006/main">
              <a:ext uri="{FF2B5EF4-FFF2-40B4-BE49-F238E27FC236}">
                <a16:creationId xmlns:a16="http://schemas.microsoft.com/office/drawing/2014/main" id="{5D481590-1E92-4356-8D37-82A6F5AC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USE CASES</a:t>
            </a:r>
          </a:p>
        </p:txBody>
      </p:sp>
      <p:sp>
        <p:nvSpPr>
          <p:cNvPr id="11" name="s7-scene-0">
            <a:extLst xmlns:a="http://schemas.openxmlformats.org/drawingml/2006/main">
              <a:ext uri="{FF2B5EF4-FFF2-40B4-BE49-F238E27FC236}">
                <a16:creationId xmlns:a16="http://schemas.microsoft.com/office/drawing/2014/main" id="{DBEB4833-0832-42A9-BB28-3396BAE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Retail, temporary sites, small compounds</a:t>
            </a:r>
          </a:p>
        </p:txBody>
      </p:sp>
      <p:sp>
        <p:nvSpPr>
          <p:cNvPr id="12" name="s7-cap-h-0">
            <a:extLst xmlns:a="http://schemas.openxmlformats.org/drawingml/2006/main">
              <a:ext uri="{FF2B5EF4-FFF2-40B4-BE49-F238E27FC236}">
                <a16:creationId xmlns:a16="http://schemas.microsoft.com/office/drawing/2014/main" id="{C503294B-A1EA-472A-A316-7FFD0156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7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CORE FEATURES</a:t>
            </a:r>
          </a:p>
        </p:txBody>
      </p:sp>
      <p:sp>
        <p:nvSpPr>
          <p:cNvPr id="13" name="s7-cap-0">
            <a:extLst xmlns:a="http://schemas.openxmlformats.org/drawingml/2006/main">
              <a:ext uri="{FF2B5EF4-FFF2-40B4-BE49-F238E27FC236}">
                <a16:creationId xmlns:a16="http://schemas.microsoft.com/office/drawing/2014/main" id="{A623EA72-4CE1-431C-B5F9-9FD514DC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Basic bandwidth | pre-paired | PoE</a:t>
            </a:r>
          </a:p>
        </p:txBody>
      </p:sp>
      <p:sp>
        <p:nvSpPr>
          <p:cNvPr id="14" name="s7-role-0">
            <a:extLst xmlns:a="http://schemas.openxmlformats.org/drawingml/2006/main">
              <a:ext uri="{FF2B5EF4-FFF2-40B4-BE49-F238E27FC236}">
                <a16:creationId xmlns:a16="http://schemas.microsoft.com/office/drawing/2014/main" id="{169694E3-912E-4448-A851-3FBE9AAD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43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344A"/>
                </a:solidFill>
                <a:latin typeface="Microsoft YaHei"/>
                <a:ea typeface="Microsoft YaHei"/>
                <a:cs typeface="Microsoft YaHei"/>
              </a:rPr>
              <a:t>Volume</a:t>
            </a:r>
          </a:p>
        </p:txBody>
      </p:sp>
      <p:sp>
        <p:nvSpPr>
          <p:cNvPr id="15" name="s7-col-1">
            <a:extLst xmlns:a="http://schemas.openxmlformats.org/drawingml/2006/main">
              <a:ext uri="{FF2B5EF4-FFF2-40B4-BE49-F238E27FC236}">
                <a16:creationId xmlns:a16="http://schemas.microsoft.com/office/drawing/2014/main" id="{035B649C-81D4-4387-A708-082616EC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85900"/>
            <a:ext cx="33718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7-top-1">
            <a:extLst xmlns:a="http://schemas.openxmlformats.org/drawingml/2006/main">
              <a:ext uri="{FF2B5EF4-FFF2-40B4-BE49-F238E27FC236}">
                <a16:creationId xmlns:a16="http://schemas.microsoft.com/office/drawing/2014/main" id="{2D0026B9-266F-4F58-8B69-4A7EEF02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859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7-title-1">
            <a:extLst xmlns:a="http://schemas.openxmlformats.org/drawingml/2006/main">
              <a:ext uri="{FF2B5EF4-FFF2-40B4-BE49-F238E27FC236}">
                <a16:creationId xmlns:a16="http://schemas.microsoft.com/office/drawing/2014/main" id="{A208F649-8B5A-4561-9DC4-6E937029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High-throughput</a:t>
            </a:r>
          </a:p>
        </p:txBody>
      </p:sp>
      <p:sp>
        <p:nvSpPr>
          <p:cNvPr id="18" name="s7-tag-1">
            <a:extLst xmlns:a="http://schemas.openxmlformats.org/drawingml/2006/main">
              <a:ext uri="{FF2B5EF4-FFF2-40B4-BE49-F238E27FC236}">
                <a16:creationId xmlns:a16="http://schemas.microsoft.com/office/drawing/2014/main" id="{9AA3460B-EDC9-4D28-9233-DFB60399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Primary offer</a:t>
            </a:r>
          </a:p>
        </p:txBody>
      </p:sp>
      <p:sp>
        <p:nvSpPr>
          <p:cNvPr id="19" name="s7-r1-1">
            <a:extLst xmlns:a="http://schemas.openxmlformats.org/drawingml/2006/main">
              <a:ext uri="{FF2B5EF4-FFF2-40B4-BE49-F238E27FC236}">
                <a16:creationId xmlns:a16="http://schemas.microsoft.com/office/drawing/2014/main" id="{32AD6879-2A10-4529-90E2-1E7AA93E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7-scene-h-1">
            <a:extLst xmlns:a="http://schemas.openxmlformats.org/drawingml/2006/main">
              <a:ext uri="{FF2B5EF4-FFF2-40B4-BE49-F238E27FC236}">
                <a16:creationId xmlns:a16="http://schemas.microsoft.com/office/drawing/2014/main" id="{0DBC7E40-BBD1-4540-980B-825A8D2A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USE CASES</a:t>
            </a:r>
          </a:p>
        </p:txBody>
      </p:sp>
      <p:sp>
        <p:nvSpPr>
          <p:cNvPr id="21" name="s7-scene-1">
            <a:extLst xmlns:a="http://schemas.openxmlformats.org/drawingml/2006/main">
              <a:ext uri="{FF2B5EF4-FFF2-40B4-BE49-F238E27FC236}">
                <a16:creationId xmlns:a16="http://schemas.microsoft.com/office/drawing/2014/main" id="{A824AE2F-490B-4E01-BDB6-685B254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Multi-camera video, campus links, parking</a:t>
            </a:r>
          </a:p>
        </p:txBody>
      </p:sp>
      <p:sp>
        <p:nvSpPr>
          <p:cNvPr id="22" name="s7-cap-h-1">
            <a:extLst xmlns:a="http://schemas.openxmlformats.org/drawingml/2006/main">
              <a:ext uri="{FF2B5EF4-FFF2-40B4-BE49-F238E27FC236}">
                <a16:creationId xmlns:a16="http://schemas.microsoft.com/office/drawing/2014/main" id="{C355C33D-FF69-41C5-99BA-95611F44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7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CORE FEATURES</a:t>
            </a:r>
          </a:p>
        </p:txBody>
      </p:sp>
      <p:sp>
        <p:nvSpPr>
          <p:cNvPr id="23" name="s7-cap-1">
            <a:extLst xmlns:a="http://schemas.openxmlformats.org/drawingml/2006/main">
              <a:ext uri="{FF2B5EF4-FFF2-40B4-BE49-F238E27FC236}">
                <a16:creationId xmlns:a16="http://schemas.microsoft.com/office/drawing/2014/main" id="{59691127-69CB-429E-896F-2933F81E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Gigabit | high throughput | anti-interference</a:t>
            </a:r>
          </a:p>
        </p:txBody>
      </p:sp>
      <p:sp>
        <p:nvSpPr>
          <p:cNvPr id="24" name="s7-role-1">
            <a:extLst xmlns:a="http://schemas.openxmlformats.org/drawingml/2006/main">
              <a:ext uri="{FF2B5EF4-FFF2-40B4-BE49-F238E27FC236}">
                <a16:creationId xmlns:a16="http://schemas.microsoft.com/office/drawing/2014/main" id="{E48AE6FF-EAE0-4D0D-98D4-94B0C74A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Core revenue</a:t>
            </a:r>
          </a:p>
        </p:txBody>
      </p:sp>
      <p:sp>
        <p:nvSpPr>
          <p:cNvPr id="25" name="s7-col-2">
            <a:extLst xmlns:a="http://schemas.openxmlformats.org/drawingml/2006/main">
              <a:ext uri="{FF2B5EF4-FFF2-40B4-BE49-F238E27FC236}">
                <a16:creationId xmlns:a16="http://schemas.microsoft.com/office/drawing/2014/main" id="{A294700E-AEC9-4C2B-8792-855ED2F8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85900"/>
            <a:ext cx="33718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7-top-2">
            <a:extLst xmlns:a="http://schemas.openxmlformats.org/drawingml/2006/main">
              <a:ext uri="{FF2B5EF4-FFF2-40B4-BE49-F238E27FC236}">
                <a16:creationId xmlns:a16="http://schemas.microsoft.com/office/drawing/2014/main" id="{A9EA7F3C-3454-4ABB-AC6D-AFE52969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859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7-title-2">
            <a:extLst xmlns:a="http://schemas.openxmlformats.org/drawingml/2006/main">
              <a:ext uri="{FF2B5EF4-FFF2-40B4-BE49-F238E27FC236}">
                <a16:creationId xmlns:a16="http://schemas.microsoft.com/office/drawing/2014/main" id="{EBC46F55-9DD5-4BE8-AB1F-9B4E69E5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Long-range</a:t>
            </a:r>
          </a:p>
        </p:txBody>
      </p:sp>
      <p:sp>
        <p:nvSpPr>
          <p:cNvPr id="28" name="s7-tag-2">
            <a:extLst xmlns:a="http://schemas.openxmlformats.org/drawingml/2006/main">
              <a:ext uri="{FF2B5EF4-FFF2-40B4-BE49-F238E27FC236}">
                <a16:creationId xmlns:a16="http://schemas.microsoft.com/office/drawing/2014/main" id="{7B52A96E-D100-42FF-BA7C-581285A8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rPr>
              <a:t>Project solution</a:t>
            </a:r>
          </a:p>
        </p:txBody>
      </p:sp>
      <p:sp>
        <p:nvSpPr>
          <p:cNvPr id="29" name="s7-r1-2">
            <a:extLst xmlns:a="http://schemas.openxmlformats.org/drawingml/2006/main">
              <a:ext uri="{FF2B5EF4-FFF2-40B4-BE49-F238E27FC236}">
                <a16:creationId xmlns:a16="http://schemas.microsoft.com/office/drawing/2014/main" id="{690415E6-4A52-4BF3-A687-49B323A1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7-scene-h-2">
            <a:extLst xmlns:a="http://schemas.openxmlformats.org/drawingml/2006/main">
              <a:ext uri="{FF2B5EF4-FFF2-40B4-BE49-F238E27FC236}">
                <a16:creationId xmlns:a16="http://schemas.microsoft.com/office/drawing/2014/main" id="{2EE47A43-4C70-4EF9-A6E4-071BE40C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USE CASES</a:t>
            </a:r>
          </a:p>
        </p:txBody>
      </p:sp>
      <p:sp>
        <p:nvSpPr>
          <p:cNvPr id="31" name="s7-scene-2">
            <a:extLst xmlns:a="http://schemas.openxmlformats.org/drawingml/2006/main">
              <a:ext uri="{FF2B5EF4-FFF2-40B4-BE49-F238E27FC236}">
                <a16:creationId xmlns:a16="http://schemas.microsoft.com/office/drawing/2014/main" id="{411D7737-EAAC-47ED-8FFB-A57D968B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Construction, rural and cross-area backhaul</a:t>
            </a:r>
          </a:p>
        </p:txBody>
      </p:sp>
      <p:sp>
        <p:nvSpPr>
          <p:cNvPr id="32" name="s7-cap-h-2">
            <a:extLst xmlns:a="http://schemas.openxmlformats.org/drawingml/2006/main">
              <a:ext uri="{FF2B5EF4-FFF2-40B4-BE49-F238E27FC236}">
                <a16:creationId xmlns:a16="http://schemas.microsoft.com/office/drawing/2014/main" id="{E526BDE1-96D1-491C-B238-1B646B58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7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CORE FEATURES</a:t>
            </a:r>
          </a:p>
        </p:txBody>
      </p:sp>
      <p:sp>
        <p:nvSpPr>
          <p:cNvPr id="33" name="s7-cap-2">
            <a:extLst xmlns:a="http://schemas.openxmlformats.org/drawingml/2006/main">
              <a:ext uri="{FF2B5EF4-FFF2-40B4-BE49-F238E27FC236}">
                <a16:creationId xmlns:a16="http://schemas.microsoft.com/office/drawing/2014/main" id="{AFAB0A1D-2CB2-415D-9F4C-0799BFF9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High gain | outdoor protection | remote O&amp;M</a:t>
            </a:r>
          </a:p>
        </p:txBody>
      </p:sp>
      <p:sp>
        <p:nvSpPr>
          <p:cNvPr id="34" name="s7-role-2">
            <a:extLst xmlns:a="http://schemas.openxmlformats.org/drawingml/2006/main">
              <a:ext uri="{FF2B5EF4-FFF2-40B4-BE49-F238E27FC236}">
                <a16:creationId xmlns:a16="http://schemas.microsoft.com/office/drawing/2014/main" id="{F3690FEF-CBEE-4588-8B9B-076920C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101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43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344A"/>
                </a:solidFill>
                <a:latin typeface="Microsoft YaHei"/>
                <a:ea typeface="Microsoft YaHei"/>
                <a:cs typeface="Microsoft YaHei"/>
              </a:rPr>
              <a:t>Reference wins</a:t>
            </a:r>
          </a:p>
        </p:txBody>
      </p:sp>
      <p:sp>
        <p:nvSpPr>
          <p:cNvPr id="35" name="s7-bottom">
            <a:extLst xmlns:a="http://schemas.openxmlformats.org/drawingml/2006/main">
              <a:ext uri="{FF2B5EF4-FFF2-40B4-BE49-F238E27FC236}">
                <a16:creationId xmlns:a16="http://schemas.microsoft.com/office/drawing/2014/main" id="{B98B398E-515F-4153-9928-FAA8133A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0801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7-bottom-text">
            <a:extLst xmlns:a="http://schemas.openxmlformats.org/drawingml/2006/main">
              <a:ext uri="{FF2B5EF4-FFF2-40B4-BE49-F238E27FC236}">
                <a16:creationId xmlns:a16="http://schemas.microsoft.com/office/drawing/2014/main" id="{2EFA286F-B53E-40FC-8718-7DD46C59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Sell the outcome: less trenching, faster launch, stable video backhaul and remote maintainability.</a:t>
            </a:r>
          </a:p>
        </p:txBody>
      </p:sp>
    </p:spTree>
    <p:extLst>
      <p:ext uri="{BB962C8B-B14F-4D97-AF65-F5344CB8AC3E}">
        <p14:creationId xmlns:p14="http://schemas.microsoft.com/office/powerpoint/2010/main" val="1330008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8">
            <a:extLst xmlns:a="http://schemas.openxmlformats.org/drawingml/2006/main">
              <a:ext uri="{FF2B5EF4-FFF2-40B4-BE49-F238E27FC236}">
                <a16:creationId xmlns:a16="http://schemas.microsoft.com/office/drawing/2014/main" id="{0D1C2D95-EC46-4C87-B300-CA081D9C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Target four high-pain scenarios with repeatable kits</a:t>
            </a:r>
          </a:p>
        </p:txBody>
      </p:sp>
      <p:sp>
        <p:nvSpPr>
          <p:cNvPr id="2" name="brand-8">
            <a:extLst xmlns:a="http://schemas.openxmlformats.org/drawingml/2006/main">
              <a:ext uri="{FF2B5EF4-FFF2-40B4-BE49-F238E27FC236}">
                <a16:creationId xmlns:a16="http://schemas.microsoft.com/office/drawing/2014/main" id="{8D4E1EBC-E8AD-490A-A919-3572AAD9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HIKVISION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77F531C4-4B9E-4C2A-A58E-2106D5AD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BB19F9A4-2D91-49A3-BEB8-CD5668A7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s8-h1">
            <a:extLst xmlns:a="http://schemas.openxmlformats.org/drawingml/2006/main">
              <a:ext uri="{FF2B5EF4-FFF2-40B4-BE49-F238E27FC236}">
                <a16:creationId xmlns:a16="http://schemas.microsoft.com/office/drawing/2014/main" id="{A703F122-0C81-4189-AA56-D9DC3DB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Scenario</a:t>
            </a:r>
          </a:p>
        </p:txBody>
      </p:sp>
      <p:sp>
        <p:nvSpPr>
          <p:cNvPr id="6" name="s8-h2">
            <a:extLst xmlns:a="http://schemas.openxmlformats.org/drawingml/2006/main">
              <a:ext uri="{FF2B5EF4-FFF2-40B4-BE49-F238E27FC236}">
                <a16:creationId xmlns:a16="http://schemas.microsoft.com/office/drawing/2014/main" id="{B2D8DAC4-D207-4B3B-A873-D33CA258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3525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Buying trigger</a:t>
            </a:r>
          </a:p>
        </p:txBody>
      </p:sp>
      <p:sp>
        <p:nvSpPr>
          <p:cNvPr id="7" name="s8-h3">
            <a:extLst xmlns:a="http://schemas.openxmlformats.org/drawingml/2006/main">
              <a:ext uri="{FF2B5EF4-FFF2-40B4-BE49-F238E27FC236}">
                <a16:creationId xmlns:a16="http://schemas.microsoft.com/office/drawing/2014/main" id="{13D8E06D-3F93-4EFC-86FB-2F92A416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52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Standard kit</a:t>
            </a:r>
          </a:p>
        </p:txBody>
      </p:sp>
      <p:sp>
        <p:nvSpPr>
          <p:cNvPr id="8" name="s8-h4">
            <a:extLst xmlns:a="http://schemas.openxmlformats.org/drawingml/2006/main">
              <a:ext uri="{FF2B5EF4-FFF2-40B4-BE49-F238E27FC236}">
                <a16:creationId xmlns:a16="http://schemas.microsoft.com/office/drawing/2014/main" id="{4C162994-F1B2-4565-AF2C-B12E653B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525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872"/>
                </a:solidFill>
                <a:latin typeface="Microsoft YaHei"/>
                <a:ea typeface="Microsoft YaHei"/>
                <a:cs typeface="Microsoft YaHei"/>
              </a:rPr>
              <a:t>Priority</a:t>
            </a:r>
          </a:p>
        </p:txBody>
      </p:sp>
      <p:sp>
        <p:nvSpPr>
          <p:cNvPr id="9" name="s8-row-0">
            <a:extLst xmlns:a="http://schemas.openxmlformats.org/drawingml/2006/main">
              <a:ext uri="{FF2B5EF4-FFF2-40B4-BE49-F238E27FC236}">
                <a16:creationId xmlns:a16="http://schemas.microsoft.com/office/drawing/2014/main" id="{F097BF5A-CD6A-4D76-9810-1E18879E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c1-0">
            <a:extLst xmlns:a="http://schemas.openxmlformats.org/drawingml/2006/main">
              <a:ext uri="{FF2B5EF4-FFF2-40B4-BE49-F238E27FC236}">
                <a16:creationId xmlns:a16="http://schemas.microsoft.com/office/drawing/2014/main" id="{BEF78C90-1418-4898-B030-7DD2EB42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Video backhaul</a:t>
            </a:r>
          </a:p>
        </p:txBody>
      </p:sp>
      <p:sp>
        <p:nvSpPr>
          <p:cNvPr id="11" name="s8-c2-0">
            <a:extLst xmlns:a="http://schemas.openxmlformats.org/drawingml/2006/main">
              <a:ext uri="{FF2B5EF4-FFF2-40B4-BE49-F238E27FC236}">
                <a16:creationId xmlns:a16="http://schemas.microsoft.com/office/drawing/2014/main" id="{E2920E62-44A3-4A4E-BD30-92373F53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Dispersed cameras; long cable runs</a:t>
            </a:r>
          </a:p>
        </p:txBody>
      </p:sp>
      <p:sp>
        <p:nvSpPr>
          <p:cNvPr id="12" name="s8-c3-0">
            <a:extLst xmlns:a="http://schemas.openxmlformats.org/drawingml/2006/main">
              <a:ext uri="{FF2B5EF4-FFF2-40B4-BE49-F238E27FC236}">
                <a16:creationId xmlns:a16="http://schemas.microsoft.com/office/drawing/2014/main" id="{54E18C47-5972-4420-B035-D1C87278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Bridge + camera + PoE + accessories</a:t>
            </a:r>
          </a:p>
        </p:txBody>
      </p:sp>
      <p:sp>
        <p:nvSpPr>
          <p:cNvPr id="13" name="s8-c4-0">
            <a:extLst xmlns:a="http://schemas.openxmlformats.org/drawingml/2006/main">
              <a:ext uri="{FF2B5EF4-FFF2-40B4-BE49-F238E27FC236}">
                <a16:creationId xmlns:a16="http://schemas.microsoft.com/office/drawing/2014/main" id="{BA0920BC-C8B8-4600-84B4-7A59E255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37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Highest</a:t>
            </a:r>
          </a:p>
        </p:txBody>
      </p:sp>
      <p:sp>
        <p:nvSpPr>
          <p:cNvPr id="14" name="s8-row-1">
            <a:extLst xmlns:a="http://schemas.openxmlformats.org/drawingml/2006/main">
              <a:ext uri="{FF2B5EF4-FFF2-40B4-BE49-F238E27FC236}">
                <a16:creationId xmlns:a16="http://schemas.microsoft.com/office/drawing/2014/main" id="{94EDC302-9CFB-43A9-9594-3CEC213D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8-c1-1">
            <a:extLst xmlns:a="http://schemas.openxmlformats.org/drawingml/2006/main">
              <a:ext uri="{FF2B5EF4-FFF2-40B4-BE49-F238E27FC236}">
                <a16:creationId xmlns:a16="http://schemas.microsoft.com/office/drawing/2014/main" id="{79C4DB87-7EAC-4797-B829-4287DAFB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Cross-building campus</a:t>
            </a:r>
          </a:p>
        </p:txBody>
      </p:sp>
      <p:sp>
        <p:nvSpPr>
          <p:cNvPr id="16" name="s8-c2-1">
            <a:extLst xmlns:a="http://schemas.openxmlformats.org/drawingml/2006/main">
              <a:ext uri="{FF2B5EF4-FFF2-40B4-BE49-F238E27FC236}">
                <a16:creationId xmlns:a16="http://schemas.microsoft.com/office/drawing/2014/main" id="{9CD4A4A0-DB00-42BC-A365-9A194BDC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81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Roads or buildings block cabling</a:t>
            </a:r>
          </a:p>
        </p:txBody>
      </p:sp>
      <p:sp>
        <p:nvSpPr>
          <p:cNvPr id="17" name="s8-c3-1">
            <a:extLst xmlns:a="http://schemas.openxmlformats.org/drawingml/2006/main">
              <a:ext uri="{FF2B5EF4-FFF2-40B4-BE49-F238E27FC236}">
                <a16:creationId xmlns:a16="http://schemas.microsoft.com/office/drawing/2014/main" id="{A1E99BF8-F4A3-44C8-B25E-1EA9C7D5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Paired bridge + switch + link monitoring</a:t>
            </a:r>
          </a:p>
        </p:txBody>
      </p:sp>
      <p:sp>
        <p:nvSpPr>
          <p:cNvPr id="18" name="s8-c4-1">
            <a:extLst xmlns:a="http://schemas.openxmlformats.org/drawingml/2006/main">
              <a:ext uri="{FF2B5EF4-FFF2-40B4-BE49-F238E27FC236}">
                <a16:creationId xmlns:a16="http://schemas.microsoft.com/office/drawing/2014/main" id="{0DE061FD-C9A0-482B-A866-FB7E6708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19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rPr>
              <a:t>High</a:t>
            </a:r>
          </a:p>
        </p:txBody>
      </p:sp>
      <p:sp>
        <p:nvSpPr>
          <p:cNvPr id="19" name="s8-row-2">
            <a:extLst xmlns:a="http://schemas.openxmlformats.org/drawingml/2006/main">
              <a:ext uri="{FF2B5EF4-FFF2-40B4-BE49-F238E27FC236}">
                <a16:creationId xmlns:a16="http://schemas.microsoft.com/office/drawing/2014/main" id="{8E33423E-DF62-46E7-A573-D5D461A9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8-c1-2">
            <a:extLst xmlns:a="http://schemas.openxmlformats.org/drawingml/2006/main">
              <a:ext uri="{FF2B5EF4-FFF2-40B4-BE49-F238E27FC236}">
                <a16:creationId xmlns:a16="http://schemas.microsoft.com/office/drawing/2014/main" id="{947DE9A2-E5F6-438A-BC8E-F29B46EA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Construction / temporary</a:t>
            </a:r>
          </a:p>
        </p:txBody>
      </p:sp>
      <p:sp>
        <p:nvSpPr>
          <p:cNvPr id="21" name="s8-c2-2">
            <a:extLst xmlns:a="http://schemas.openxmlformats.org/drawingml/2006/main">
              <a:ext uri="{FF2B5EF4-FFF2-40B4-BE49-F238E27FC236}">
                <a16:creationId xmlns:a16="http://schemas.microsoft.com/office/drawing/2014/main" id="{66AB2F43-86A3-4A10-B2C5-93291FA2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576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Fast deployment; frequent relocation</a:t>
            </a:r>
          </a:p>
        </p:txBody>
      </p:sp>
      <p:sp>
        <p:nvSpPr>
          <p:cNvPr id="22" name="s8-c3-2">
            <a:extLst xmlns:a="http://schemas.openxmlformats.org/drawingml/2006/main">
              <a:ext uri="{FF2B5EF4-FFF2-40B4-BE49-F238E27FC236}">
                <a16:creationId xmlns:a16="http://schemas.microsoft.com/office/drawing/2014/main" id="{53ACF683-09CC-4BC6-BD8A-841F7A9A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576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Portable kit + quick-pair guide</a:t>
            </a:r>
          </a:p>
        </p:txBody>
      </p:sp>
      <p:sp>
        <p:nvSpPr>
          <p:cNvPr id="23" name="s8-c4-2">
            <a:extLst xmlns:a="http://schemas.openxmlformats.org/drawingml/2006/main">
              <a:ext uri="{FF2B5EF4-FFF2-40B4-BE49-F238E27FC236}">
                <a16:creationId xmlns:a16="http://schemas.microsoft.com/office/drawing/2014/main" id="{05E439C6-DE4B-4EF1-BB35-252D9D81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957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rPr>
              <a:t>High</a:t>
            </a:r>
          </a:p>
        </p:txBody>
      </p:sp>
      <p:sp>
        <p:nvSpPr>
          <p:cNvPr id="24" name="s8-row-3">
            <a:extLst xmlns:a="http://schemas.openxmlformats.org/drawingml/2006/main">
              <a:ext uri="{FF2B5EF4-FFF2-40B4-BE49-F238E27FC236}">
                <a16:creationId xmlns:a16="http://schemas.microsoft.com/office/drawing/2014/main" id="{60121FEB-A92F-46E1-8118-2EAB708B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8-c1-3">
            <a:extLst xmlns:a="http://schemas.openxmlformats.org/drawingml/2006/main">
              <a:ext uri="{FF2B5EF4-FFF2-40B4-BE49-F238E27FC236}">
                <a16:creationId xmlns:a16="http://schemas.microsoft.com/office/drawing/2014/main" id="{51470CD1-5495-43F7-ACBC-05885B8D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Rural / agriculture</a:t>
            </a:r>
          </a:p>
        </p:txBody>
      </p:sp>
      <p:sp>
        <p:nvSpPr>
          <p:cNvPr id="26" name="s8-c2-3">
            <a:extLst xmlns:a="http://schemas.openxmlformats.org/drawingml/2006/main">
              <a:ext uri="{FF2B5EF4-FFF2-40B4-BE49-F238E27FC236}">
                <a16:creationId xmlns:a16="http://schemas.microsoft.com/office/drawing/2014/main" id="{16313539-3903-4B69-937D-7156E178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339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Long distance; harsh sites; costly maintenance</a:t>
            </a:r>
          </a:p>
        </p:txBody>
      </p:sp>
      <p:sp>
        <p:nvSpPr>
          <p:cNvPr id="27" name="s8-c3-3">
            <a:extLst xmlns:a="http://schemas.openxmlformats.org/drawingml/2006/main">
              <a:ext uri="{FF2B5EF4-FFF2-40B4-BE49-F238E27FC236}">
                <a16:creationId xmlns:a16="http://schemas.microsoft.com/office/drawing/2014/main" id="{6D8BA0C6-786C-434D-AC20-4B175C24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High-gain bridge + protection + remote O&amp;M</a:t>
            </a:r>
          </a:p>
        </p:txBody>
      </p:sp>
      <p:sp>
        <p:nvSpPr>
          <p:cNvPr id="28" name="s8-c4-3">
            <a:extLst xmlns:a="http://schemas.openxmlformats.org/drawingml/2006/main">
              <a:ext uri="{FF2B5EF4-FFF2-40B4-BE49-F238E27FC236}">
                <a16:creationId xmlns:a16="http://schemas.microsoft.com/office/drawing/2014/main" id="{D7343673-7AE9-49E9-BF59-D5A010B1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72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072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376B7"/>
                </a:solidFill>
                <a:latin typeface="Microsoft YaHei"/>
                <a:ea typeface="Microsoft YaHei"/>
                <a:cs typeface="Microsoft YaHei"/>
              </a:rPr>
              <a:t>Med–high</a:t>
            </a:r>
          </a:p>
        </p:txBody>
      </p:sp>
      <p:sp>
        <p:nvSpPr>
          <p:cNvPr id="29" name="s8-action-title">
            <a:extLst xmlns:a="http://schemas.openxmlformats.org/drawingml/2006/main">
              <a:ext uri="{FF2B5EF4-FFF2-40B4-BE49-F238E27FC236}">
                <a16:creationId xmlns:a16="http://schemas.microsoft.com/office/drawing/2014/main" id="{C5FEF0E6-9B2B-4C2A-877C-B7EC9B92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Next: turn insight into sellable assets in two weeks</a:t>
            </a:r>
          </a:p>
        </p:txBody>
      </p:sp>
      <p:sp>
        <p:nvSpPr>
          <p:cNvPr id="30" name="s8-action">
            <a:extLst xmlns:a="http://schemas.openxmlformats.org/drawingml/2006/main">
              <a:ext uri="{FF2B5EF4-FFF2-40B4-BE49-F238E27FC236}">
                <a16:creationId xmlns:a16="http://schemas.microsoft.com/office/drawing/2014/main" id="{EA9EF599-8C7D-492A-9517-752602FF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080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3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344A"/>
                </a:solidFill>
                <a:latin typeface="Microsoft YaHei"/>
                <a:ea typeface="Microsoft YaHei"/>
                <a:cs typeface="Microsoft YaHei"/>
              </a:rPr>
              <a:t>① Validate with 10–15 channel/project interviews  ② Map SKUs to three tiers  ③ Build selector, BOM, installation SOP and competitive playbook</a:t>
            </a:r>
          </a:p>
        </p:txBody>
      </p:sp>
    </p:spTree>
    <p:extLst>
      <p:ext uri="{BB962C8B-B14F-4D97-AF65-F5344CB8AC3E}">
        <p14:creationId xmlns:p14="http://schemas.microsoft.com/office/powerpoint/2010/main" val="1107879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2026-08-25T15:04:37.1610000Z</dcterms:created>
  <dcterms:modified xsi:type="dcterms:W3CDTF">2026-08-25T15:04:37.1610000Z</dcterms:modified>
</coreProperties>
</file>