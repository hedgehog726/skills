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781050" y="152400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转正答辩</a:t>
            </a:r>
            <a:endParaRPr sz="4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19150" y="249555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试用期工作总结与未来规划</a:t>
            </a:r>
            <a:endParaRPr sz="2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819150" y="3333750"/>
            <a:ext cx="10287000" cy="0"/>
          </a:xfrm>
          <a:prstGeom prst="line">
            <a:avLst/>
          </a:prstGeom>
          <a:noFill/>
          <a:ln w="14288">
            <a:solidFill>
              <a:srgbClr val="18181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3790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汇报人：［姓名］</a:t>
            </a:r>
            <a:endParaRPr sz="150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42481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 / 岗位：［部门］ / ［岗位］</a:t>
            </a:r>
            <a:endParaRPr sz="150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47053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日期：［20XX 年 XX 月］</a:t>
            </a:r>
            <a:endParaRPr sz="150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15350" y="5695950"/>
            <a:ext cx="2609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PROBATION REVIEW</a:t>
            </a:r>
            <a:endParaRPr sz="10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汇报目录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8669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809750" y="18383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个人基本情况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809750" y="2419350"/>
            <a:ext cx="885825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28575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09750" y="28289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试用期工作总结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809750" y="3409950"/>
            <a:ext cx="885825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38481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09750" y="38195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自我评价及未来工作规划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1809750" y="4400550"/>
            <a:ext cx="885825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48387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809750" y="48101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对部门的建议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1809750" y="5391150"/>
            <a:ext cx="885825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809750" y="59055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包含：培养计划及完成情况、重点业绩展示及总结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PERSONAL PROFILE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个人基本情况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478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1717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［姓名］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95650" y="1847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295650" y="2171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［部门名称］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57900" y="18478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57900" y="21717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［岗位名称］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820150" y="1847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入职时间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820150" y="21717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［20XX.XX.XX］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781050" y="289560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2766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个人简介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3752850"/>
            <a:ext cx="1009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［用 2—3 句话说明专业背景、过往经验，以及当前岗位的核心职责。］</a:t>
            </a:r>
            <a:endParaRPr sz="16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4857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岗位职责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539115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［职责一］        02  ［职责二］        03  ［职责三］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WORK SUMMARY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试用期工作总览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业务熟悉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［掌握的业务、流程、系统］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3200400" y="1924050"/>
            <a:ext cx="0" cy="33718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2900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2900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重点任务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2900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［承担的项目或日常工作］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5848350" y="1924050"/>
            <a:ext cx="0" cy="33718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7695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7695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协作支持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7695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［跨团队配合、问题响应］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7695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8496300" y="1924050"/>
            <a:ext cx="0" cy="33718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724900" y="2000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724900" y="2457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能力提升</a:t>
            </a:r>
            <a:endParaRPr sz="13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24900" y="28384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［培训、学习与经验沉淀］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24900" y="3695700"/>
            <a:ext cx="22098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1］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2］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［具体事项 3］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81050" y="561975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5829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一句话总结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286000" y="57912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［概括试用期工作的整体状态与主要价值。］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TRAINING &amp; ONBOARDING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试用期培养计划及完成情况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781050" y="1790700"/>
          <a:ext cx="10515600" cy="3657600"/>
        </p:xfrm>
        <a:graphic>
          <a:graphicData uri="http://schemas.openxmlformats.org/drawingml/2006/table">
            <a:tbl>
              <a:tblPr/>
              <a:tblGrid>
                <a:gridCol w="571500"/>
                <a:gridCol w="23812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323850"/>
                <a:gridCol w="1733550"/>
              </a:tblGrid>
              <a:tr h="323850">
                <a:tc rowSpan="2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培养任务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10月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h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</a:tr>
              <a:tr h="26670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v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  <a:tc vMerge="1"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181818"/>
                    </a:solidFill>
                  </a:tcPr>
                </a:tc>
              </a:tr>
              <a:tr h="438150">
                <a:tc rowSpan="3"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endParaRPr sz="97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5.7-7.10 第一阶段导师带教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rowSpan="3"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endParaRPr sz="97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7.13-7.18 扬帆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7.20-8.26 国际新人线下培训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 vMerge="1"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8.28-9.11 技服代培（存储+数据中心）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endParaRPr sz="97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8181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9.20至今 接管区域</a:t>
                      </a:r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73736F"/>
                    </a:solidFill>
                  </a:tcPr>
                </a:tc>
                <a:tc>
                  <a:txBody>
                    <a:bodyPr/>
                    <a:lstStyle/>
                    <a:p>
                      <a:endParaRPr sz="825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7C7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25" b="1">
                        <a:solidFill>
                          <a:srgbClr val="18181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38100" marB="38100" anchor="ctr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EFEA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81050" y="5724525"/>
            <a:ext cx="152400" cy="152400"/>
          </a:xfrm>
          <a:prstGeom prst="rect">
            <a:avLst/>
          </a:prstGeom>
          <a:solidFill>
            <a:srgbClr val="73736F"/>
          </a:solidFill>
          <a:ln w="0">
            <a:solidFill>
              <a:srgbClr val="73736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56769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0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924050" y="5724525"/>
            <a:ext cx="152400" cy="152400"/>
          </a:xfrm>
          <a:prstGeom prst="rect">
            <a:avLst/>
          </a:prstGeom>
          <a:solidFill>
            <a:srgbClr val="C7C7C2"/>
          </a:solidFill>
          <a:ln w="0">
            <a:solidFill>
              <a:srgbClr val="C7C7C2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152650" y="5676900"/>
            <a:ext cx="781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</a:t>
            </a:r>
            <a:endParaRPr sz="10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77000" y="5657850"/>
            <a:ext cx="481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注：两个 XXX 项暂缺具体内容和时间</a:t>
            </a:r>
            <a:endParaRPr sz="10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KEY ACHIEVEMENT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重点业绩 一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 / 事项名称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13360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［填写一个最能体现个人价值的项目名称］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781050" y="287655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2575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676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目标与背景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4171950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［为什么做、需要解决什么问题、你的职责是什么。］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3581400" y="3257550"/>
            <a:ext cx="0" cy="20383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48100" y="32575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48100" y="3676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关键行动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48100" y="4171950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［说明你主导或深度参与的 2—3 个关键动作。］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48450" y="3257550"/>
            <a:ext cx="0" cy="20383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915150" y="32575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15150" y="3676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结果与价值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915150" y="4171950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［写清结果、数据、效率提升或业务影响。］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9810750" y="3257550"/>
            <a:ext cx="0" cy="20383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096500" y="32575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核心数据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96500" y="373380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54"/>
          </a:bodyPr>
          <a:lstStyle>
            <a:def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［XX%］</a:t>
            </a:r>
            <a:endParaRPr sz="25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096500" y="428625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［指标名称］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57340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个人贡献：［明确说明自己承担的部分，避免只写团队整体成果。］</a:t>
            </a:r>
            <a:endParaRPr sz="1425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KEY ACHIEVEMENT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重点业绩 二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 / 事项名称</a:t>
            </a:r>
            <a:endParaRPr sz="112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13360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［填写一个最能体现个人价值的项目名称］</a:t>
            </a:r>
            <a:endParaRPr sz="22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781050" y="287655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2575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3676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目标与背景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4171950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［为什么做、需要解决什么问题、你的职责是什么。］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3581400" y="3257550"/>
            <a:ext cx="0" cy="20383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48100" y="32575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48100" y="3676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关键行动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48100" y="4171950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［说明你主导或深度参与的 2—3 个关键动作。］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648450" y="3257550"/>
            <a:ext cx="0" cy="20383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915150" y="325755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1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15150" y="3676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结果与价值</a:t>
            </a:r>
            <a:endParaRPr sz="16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915150" y="4171950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40000"/>
              </a:lnSpc>
              <a:buNone/>
              <a:def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［写清结果、数据、效率提升或业务影响。］</a:t>
            </a:r>
            <a:endParaRPr sz="135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9810750" y="3257550"/>
            <a:ext cx="0" cy="20383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096500" y="32575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核心数据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096500" y="373380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554"/>
          </a:bodyPr>
          <a:lstStyle>
            <a:def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［XX%］</a:t>
            </a:r>
            <a:endParaRPr sz="25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096500" y="428625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［指标名称］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" y="57340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个人贡献：［明确说明自己承担的部分，避免只写团队整体成果。］</a:t>
            </a:r>
            <a:endParaRPr sz="1425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PERFORMANCE REVIEW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重点业绩总结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669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工作成果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457450"/>
            <a:ext cx="4476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65000"/>
              </a:lnSpc>
              <a:buNone/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［成果或指标一］</a:t>
            </a:r>
            <a:endParaRPr sz="172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5000"/>
              </a:lnSpc>
              <a:buNone/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［成果或指标二］</a:t>
            </a:r>
            <a:endParaRPr sz="172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65000"/>
              </a:lnSpc>
              <a:buNone/>
              <a:def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［成果或指标三］</a:t>
            </a:r>
            <a:endParaRPr sz="172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962650" y="1866900"/>
            <a:ext cx="0" cy="31432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72250" y="18669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经验沉淀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72250" y="2457450"/>
            <a:ext cx="4286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［有效的方法或工作习惯］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［需要继续优化的问题］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［可复制到后续工作的经验］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781050" y="531495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56388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试用期结论</a:t>
            </a:r>
            <a:endParaRPr sz="1275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476500" y="5562600"/>
            <a:ext cx="828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［已经具备独立承担岗位工作的基础，并能持续创造可量化的价值。］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SELF ASSESSMENT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自我评价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9240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571750"/>
            <a:ext cx="4476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70000"/>
              </a:lnSpc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［优势一：用事实举例］</a:t>
            </a:r>
            <a:endParaRPr sz="165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［优势二：用事实举例］</a:t>
            </a:r>
            <a:endParaRPr sz="165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70000"/>
              </a:lnSpc>
              <a:buNone/>
              <a:def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［优势三：用事实举例］</a:t>
            </a:r>
            <a:endParaRPr sz="1650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962650" y="1866900"/>
            <a:ext cx="0" cy="33337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72250" y="19240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待提升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72250" y="2571750"/>
            <a:ext cx="4286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3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［不足或短板］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改进方式：［具体行动］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75"/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［不足或短板］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改进方式：［具体行动］</a:t>
            </a:r>
            <a:endParaRPr sz="15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58102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评价原则：客观、具体、与岗位要求相关</a:t>
            </a:r>
            <a:endParaRPr sz="120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FUTURE PLAN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未来工作规划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143000" y="3105150"/>
            <a:ext cx="9715500" cy="0"/>
          </a:xfrm>
          <a:prstGeom prst="line">
            <a:avLst/>
          </a:prstGeom>
          <a:noFill/>
          <a:ln w="19050">
            <a:solidFill>
              <a:srgbClr val="D7D7D1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066800" y="2981325"/>
            <a:ext cx="247650" cy="247650"/>
          </a:xfrm>
          <a:prstGeom prst="ellipse">
            <a:avLst/>
          </a:prstGeom>
          <a:solidFill>
            <a:srgbClr val="181818"/>
          </a:solidFill>
          <a:ln w="0">
            <a:solidFill>
              <a:srgbClr val="18181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18669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324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 1—3 个月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3600450"/>
            <a:ext cx="266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［补齐能力短板］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［稳定交付核心工作］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［完成重点任务］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4667250" y="2981325"/>
            <a:ext cx="247650" cy="247650"/>
          </a:xfrm>
          <a:prstGeom prst="ellipse">
            <a:avLst/>
          </a:prstGeom>
          <a:solidFill>
            <a:srgbClr val="181818"/>
          </a:solidFill>
          <a:ln w="0">
            <a:solidFill>
              <a:srgbClr val="18181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533900" y="18669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533900" y="2324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 3—6 个月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33900" y="3600450"/>
            <a:ext cx="266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［独立负责某项工作］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［提升效率或质量］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［形成方法沉淀］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8267700" y="2981325"/>
            <a:ext cx="247650" cy="247650"/>
          </a:xfrm>
          <a:prstGeom prst="ellipse">
            <a:avLst/>
          </a:prstGeom>
          <a:solidFill>
            <a:srgbClr val="181818"/>
          </a:solidFill>
          <a:ln w="0">
            <a:solidFill>
              <a:srgbClr val="18181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134350" y="18669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</a:t>
            </a:r>
            <a:endParaRPr sz="195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34350" y="2324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 6—12 个月</a:t>
            </a:r>
            <a:endParaRPr sz="12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34350" y="3600450"/>
            <a:ext cx="266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［承担更高目标］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［扩大业务影响］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［支持团队建设］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58293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衡量方式：每项计划都对应一个明确结果或可验证的产出</a:t>
            </a:r>
            <a:endParaRPr sz="12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85800" y="400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SUGGESTIONS</a:t>
            </a:r>
            <a:endParaRPr sz="105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810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对部门的建议</a:t>
            </a:r>
            <a:endParaRPr sz="30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85800" y="1428750"/>
            <a:ext cx="108204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9950" y="61912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B8B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0">
              <a:solidFill>
                <a:srgbClr val="B8B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6690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部门整体</a:t>
            </a:r>
            <a:endParaRPr sz="21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5717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现状观察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527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［基于实际工作描述一个具体问题或机会。］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8862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26720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［提出可执行、成本适中的改进方案。］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962650" y="1866900"/>
            <a:ext cx="0" cy="352425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1866900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团队内部</a:t>
            </a:r>
            <a:endParaRPr sz="21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72250" y="25717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现状观察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72250" y="29527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［从协作、流程、知识共享等角度描述。］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72250" y="38862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2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72250" y="426720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［说明建议动作、负责人和预期效果。］</a:t>
            </a:r>
            <a:endParaRPr sz="1575" b="0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781050" y="5581650"/>
            <a:ext cx="10515600" cy="0"/>
          </a:xfrm>
          <a:prstGeom prst="line">
            <a:avLst/>
          </a:prstGeom>
          <a:noFill/>
          <a:ln w="9525">
            <a:solidFill>
              <a:srgbClr val="D7D7D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" y="581025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表达原则：问题具体、建议可执行、语气建设性</a:t>
            </a:r>
            <a:endParaRPr sz="1275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781050" y="2209800"/>
            <a:ext cx="4953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09"/>
          </a:bodyPr>
          <a:lstStyle>
            <a:def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</a:t>
            </a:r>
            <a:endParaRPr sz="4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19150" y="323850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请各位领导批评指正</a:t>
            </a:r>
            <a:endParaRPr sz="2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819150" y="4095750"/>
            <a:ext cx="10287000" cy="0"/>
          </a:xfrm>
          <a:prstGeom prst="line">
            <a:avLst/>
          </a:prstGeom>
          <a:noFill/>
          <a:ln w="14288">
            <a:solidFill>
              <a:srgbClr val="18181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677400" y="45910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8181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&amp; A</a:t>
            </a:r>
            <a:endParaRPr sz="1800" b="1">
              <a:solidFill>
                <a:srgbClr val="18181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1766</Words>
  <Application>WPS 演示</Application>
  <PresentationFormat>Converted Presentation</PresentationFormat>
  <Paragraphs>422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Yongbin Bao</cp:lastModifiedBy>
  <cp:revision>1</cp:revision>
  <dcterms:created xsi:type="dcterms:W3CDTF">2026-10-19T18:24:52Z</dcterms:created>
  <dcterms:modified xsi:type="dcterms:W3CDTF">2026-10-19T18:24:52Z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4755F4A85D484B8792ADF2C3408ADBD5_12</vt:lpwstr>
  </property>
</Properties>
</file>