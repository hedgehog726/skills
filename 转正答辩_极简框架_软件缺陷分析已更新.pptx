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9" r:id="rId9"/>
    <p:sldId id="261" r:id="rId10"/>
    <p:sldId id="262" r:id="rId11"/>
    <p:sldId id="263" r:id="rId12"/>
    <p:sldId id="271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问题单数量</c:f>
              <c:strCache>
                <c:ptCount val="1"/>
                <c:pt idx="0">
                  <c:v>问题单数量</c:v>
                </c:pt>
              </c:strCache>
            </c:strRef>
          </c:tx>
          <c:spPr>
            <a:solidFill>
              <a:srgbClr val="525252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Data'!$A$2:$A$6</c:f>
              <c:strCache>
                <c:ptCount val="5"/>
                <c:pt idx="0">
                  <c:v>6月</c:v>
                </c:pt>
                <c:pt idx="1">
                  <c:v>7月</c:v>
                </c:pt>
                <c:pt idx="2">
                  <c:v>8月</c:v>
                </c:pt>
                <c:pt idx="3">
                  <c:v>9月</c:v>
                </c:pt>
                <c:pt idx="4">
                  <c:v>10月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4</c:v>
                </c:pt>
                <c:pt idx="1">
                  <c:v>13</c:v>
                </c:pt>
                <c:pt idx="2">
                  <c:v>16</c:v>
                </c:pt>
                <c:pt idx="3">
                  <c:v>19</c:v>
                </c:pt>
                <c:pt idx="4">
                  <c:v>16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D7D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w="9525">
              <a:solidFill>
                <a:srgbClr val="D7D7D1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25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  <c:majorUnit val="5"/>
      </c:valAx>
      <c:spPr>
        <a:ln w="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5fa3ece2-fd5d-4798-b596-ef8be69cc8e6}"/>
      </c:ext>
    </c:extLst>
  </c:chart>
  <c:spPr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问题单数量</c:f>
              <c:strCache>
                <c:ptCount val="1"/>
                <c:pt idx="0">
                  <c:v>问题单数量</c:v>
                </c:pt>
              </c:strCache>
            </c:strRef>
          </c:tx>
          <c:spPr>
            <a:solidFill>
              <a:srgbClr val="888884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Data'!$A$2:$A$7</c:f>
              <c:strCache>
                <c:ptCount val="6"/>
                <c:pt idx="0">
                  <c:v>MYBN 马来西亚/文莱</c:v>
                </c:pt>
                <c:pt idx="1">
                  <c:v>PH 菲律宾</c:v>
                </c:pt>
                <c:pt idx="2">
                  <c:v>AU 澳大利亚</c:v>
                </c:pt>
                <c:pt idx="3">
                  <c:v>SG 新加坡</c:v>
                </c:pt>
                <c:pt idx="4">
                  <c:v>KZAZGE 中亚/外高加索</c:v>
                </c:pt>
                <c:pt idx="5">
                  <c:v>KH 柬埔寨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24</c:v>
                </c:pt>
                <c:pt idx="1">
                  <c:v>15</c:v>
                </c:pt>
                <c:pt idx="2">
                  <c:v>12</c:v>
                </c:pt>
                <c:pt idx="3">
                  <c:v>10</c:v>
                </c:pt>
                <c:pt idx="4">
                  <c:v>6</c:v>
                </c:pt>
                <c:pt idx="5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ln w="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1591c236-f0be-4980-8b7e-b5eb3e17751f}"/>
      </c:ext>
    </c:extLst>
  </c:chart>
  <c:spPr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单数</c:f>
              <c:strCache>
                <c:ptCount val="1"/>
                <c:pt idx="0">
                  <c:v>单数</c:v>
                </c:pt>
              </c:strCache>
            </c:strRef>
          </c:tx>
          <c:spPr>
            <a:solidFill>
              <a:srgbClr val="525252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Data'!$A$2:$A$8</c:f>
              <c:strCache>
                <c:ptCount val="7"/>
                <c:pt idx="0">
                  <c:v>操作/安装配置</c:v>
                </c:pt>
                <c:pt idx="1">
                  <c:v>软件问题</c:v>
                </c:pt>
                <c:pt idx="2">
                  <c:v>现场环境</c:v>
                </c:pt>
                <c:pt idx="3">
                  <c:v>软件升级/数据库</c:v>
                </c:pt>
                <c:pt idx="4">
                  <c:v>设备/兼容性</c:v>
                </c:pt>
                <c:pt idx="5">
                  <c:v>软件集成</c:v>
                </c:pt>
                <c:pt idx="6">
                  <c:v>产品咨询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25</c:v>
                </c:pt>
                <c:pt idx="1">
                  <c:v>17</c:v>
                </c:pt>
                <c:pt idx="2">
                  <c:v>12</c:v>
                </c:pt>
                <c:pt idx="3">
                  <c:v>5</c:v>
                </c:pt>
                <c:pt idx="4">
                  <c:v>5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ln w="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fe6e9c6-2b54-48f6-bdfd-a5d1f3a44d21}"/>
      </c:ext>
    </c:extLst>
  </c:chart>
  <c:spPr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781050" y="1524000"/>
            <a:ext cx="7239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转正答辩</a:t>
            </a:r>
            <a:endParaRPr sz="48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19150" y="2495550"/>
            <a:ext cx="628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试用期工作总结与未来规划</a:t>
            </a:r>
            <a:endParaRPr sz="2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819150" y="3333750"/>
            <a:ext cx="10287000" cy="0"/>
          </a:xfrm>
          <a:prstGeom prst="line">
            <a:avLst/>
          </a:prstGeom>
          <a:noFill/>
          <a:ln w="14288">
            <a:solidFill>
              <a:srgbClr val="181818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19150" y="37909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汇报人：［姓名］</a:t>
            </a:r>
            <a:endParaRPr sz="1500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19150" y="424815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 / 岗位：［部门］ / ［岗位］</a:t>
            </a:r>
            <a:endParaRPr sz="1500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47053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日期：［20XX 年 XX 月］</a:t>
            </a:r>
            <a:endParaRPr sz="1500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15350" y="5695950"/>
            <a:ext cx="2609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0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0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0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0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0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0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0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0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0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0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PROBATION REVIEW</a:t>
            </a:r>
            <a:endParaRPr sz="1050" b="1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685800" y="4000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CONTENTS</a:t>
            </a:r>
            <a:endParaRPr sz="105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汇报目录</a:t>
            </a:r>
            <a:endParaRPr sz="30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85800" y="1428750"/>
            <a:ext cx="108204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9950" y="61912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050" b="0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18669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50" b="1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809750" y="1838325"/>
            <a:ext cx="685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个人基本情况</a:t>
            </a:r>
            <a:endParaRPr sz="22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1809750" y="2419350"/>
            <a:ext cx="885825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8575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50" b="1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809750" y="2828925"/>
            <a:ext cx="685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试用期工作总结</a:t>
            </a:r>
            <a:endParaRPr sz="22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1809750" y="3409950"/>
            <a:ext cx="885825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76300" y="38481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50" b="1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09750" y="3819525"/>
            <a:ext cx="685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自我评价及未来工作规划</a:t>
            </a:r>
            <a:endParaRPr sz="22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1809750" y="4400550"/>
            <a:ext cx="885825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76300" y="48387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50" b="1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809750" y="4810125"/>
            <a:ext cx="685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对部门的建议</a:t>
            </a:r>
            <a:endParaRPr sz="22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1809750" y="5391150"/>
            <a:ext cx="885825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685800" y="4000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PERSONAL PROFILE</a:t>
            </a:r>
            <a:endParaRPr sz="105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个人基本情况</a:t>
            </a:r>
            <a:endParaRPr sz="30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85800" y="1428750"/>
            <a:ext cx="108204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9950" y="61912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50" b="0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8478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姓名</a:t>
            </a:r>
            <a:endParaRPr sz="11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1717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［姓名］</a:t>
            </a:r>
            <a:endParaRPr sz="18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295650" y="18478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</a:t>
            </a:r>
            <a:endParaRPr sz="11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295650" y="21717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［部门名称］</a:t>
            </a:r>
            <a:endParaRPr sz="18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57900" y="18478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</a:t>
            </a:r>
            <a:endParaRPr sz="11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57900" y="21717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［岗位名称］</a:t>
            </a:r>
            <a:endParaRPr sz="18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820150" y="18478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入职时间</a:t>
            </a:r>
            <a:endParaRPr sz="11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820150" y="21717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［20XX.XX.XX］</a:t>
            </a:r>
            <a:endParaRPr sz="18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781050" y="2895600"/>
            <a:ext cx="105156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32766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个人简介</a:t>
            </a:r>
            <a:endParaRPr sz="16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81050" y="3752850"/>
            <a:ext cx="1009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［用 2—3 句话说明专业背景、过往经验，以及当前岗位的核心职责。］</a:t>
            </a:r>
            <a:endParaRPr sz="16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1050" y="48577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岗位职责</a:t>
            </a:r>
            <a:endParaRPr sz="16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81050" y="5391150"/>
            <a:ext cx="990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［职责一］        02  ［职责二］        03  ［职责三］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685800" y="4000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WORK SUMMARY</a:t>
            </a:r>
            <a:endParaRPr sz="105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试用期工作总览</a:t>
            </a:r>
            <a:endParaRPr sz="30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85800" y="1428750"/>
            <a:ext cx="108204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9950" y="61912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50" b="0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20002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2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4574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业务熟悉</a:t>
            </a:r>
            <a:endParaRPr sz="13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8384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5000"/>
              </a:lnSpc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［掌握的业务、流程、系统］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3695700"/>
            <a:ext cx="220980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1］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2］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3］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3200400" y="1924050"/>
            <a:ext cx="0" cy="337185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429000" y="20002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2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429000" y="24574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重点任务</a:t>
            </a:r>
            <a:endParaRPr sz="13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429000" y="28384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5000"/>
              </a:lnSpc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［承担的项目或日常工作］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29000" y="3695700"/>
            <a:ext cx="220980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1］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2］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3］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5848350" y="1924050"/>
            <a:ext cx="0" cy="337185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076950" y="20002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2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76950" y="24574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协作支持</a:t>
            </a:r>
            <a:endParaRPr sz="13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76950" y="28384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5000"/>
              </a:lnSpc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［跨团队配合、问题响应］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76950" y="3695700"/>
            <a:ext cx="220980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1］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2］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3］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8496300" y="1924050"/>
            <a:ext cx="0" cy="337185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724900" y="20002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2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724900" y="24574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能力提升</a:t>
            </a:r>
            <a:endParaRPr sz="13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724900" y="28384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5000"/>
              </a:lnSpc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［培训、学习与经验沉淀］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724900" y="3695700"/>
            <a:ext cx="220980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1］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2］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3］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781050" y="5619750"/>
            <a:ext cx="105156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81050" y="58293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一句话总结</a:t>
            </a:r>
            <a:endParaRPr sz="12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286000" y="5791200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［概括试用期工作的整体状态与主要价值。］</a:t>
            </a:r>
            <a:endParaRPr sz="16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85800" y="4000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TRAINING &amp; ONBOARDING</a:t>
            </a:r>
            <a:endParaRPr sz="105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试用期培养计划及完成情况</a:t>
            </a:r>
            <a:endParaRPr sz="30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85800" y="1428750"/>
            <a:ext cx="108204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9950" y="61912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050" b="0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781050" y="1790700"/>
          <a:ext cx="10515600" cy="3657600"/>
        </p:xfrm>
        <a:graphic>
          <a:graphicData uri="http://schemas.openxmlformats.org/drawingml/2006/table">
            <a:tbl>
              <a:tblPr/>
              <a:tblGrid>
                <a:gridCol w="658495"/>
                <a:gridCol w="2294255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1733550"/>
              </a:tblGrid>
              <a:tr h="323850">
                <a:tc rowSpan="2"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培养任务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5月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h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h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6月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h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h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7月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h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h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8月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h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h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9月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h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h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10月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h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h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结果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</a:tr>
              <a:tr h="266700">
                <a:tc vMerge="1">
                  <a:tcPr marL="47625" marR="47625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v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v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</a:tr>
              <a:tr h="438150">
                <a:tc rowSpan="3"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导师带教</a:t>
                      </a:r>
                      <a:endParaRPr sz="975" b="1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第一阶段导师带教</a:t>
                      </a:r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25" b="1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endParaRPr lang="en-US" sz="825" b="1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</a:tr>
              <a:tr h="438150">
                <a:tc vMerge="1">
                  <a:tcPr marL="47625" marR="47625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第二阶段</a:t>
                      </a:r>
                      <a:r>
                        <a:rPr sz="825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导师带教</a:t>
                      </a:r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25" b="1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endParaRPr lang="en-US" sz="825" b="1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</a:tr>
              <a:tr h="438150">
                <a:tc vMerge="1">
                  <a:tcPr marL="47625" marR="47625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第三阶段导师</a:t>
                      </a:r>
                      <a:r>
                        <a:rPr sz="825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带教</a:t>
                      </a:r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25" b="1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endParaRPr lang="en-US" sz="825" b="1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</a:tr>
              <a:tr h="438150">
                <a:tc rowSpan="3"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培训</a:t>
                      </a:r>
                      <a:endParaRPr sz="975" b="1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扬帆</a:t>
                      </a:r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25" b="1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88.8/100 </a:t>
                      </a:r>
                      <a:endParaRPr lang="en-US" sz="825" b="1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825" b="1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位次：</a:t>
                      </a:r>
                      <a:r>
                        <a:rPr lang="en-US" sz="825" b="1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69/266</a:t>
                      </a:r>
                      <a:endParaRPr lang="en-US" sz="825" b="1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</a:tr>
              <a:tr h="438150">
                <a:tc vMerge="1">
                  <a:tcPr marL="47625" marR="47625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国际新人线下培训</a:t>
                      </a:r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25" b="1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77.62/100</a:t>
                      </a:r>
                      <a:endParaRPr lang="en-US" sz="825" b="1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825" b="1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位次：</a:t>
                      </a:r>
                      <a:r>
                        <a:rPr lang="en-US" sz="825" b="1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19/43</a:t>
                      </a:r>
                      <a:endParaRPr lang="en-US" sz="825" b="1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</a:tr>
              <a:tr h="438150">
                <a:tc vMerge="1">
                  <a:tcPr marL="47625" marR="47625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技服代培（存储+数据中心</a:t>
                      </a:r>
                      <a:r>
                        <a:rPr sz="825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25" b="1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93.75/100</a:t>
                      </a:r>
                      <a:endParaRPr lang="en-US" sz="825" b="1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endParaRPr sz="975" b="1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接管区域</a:t>
                      </a:r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7C7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25" b="1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endParaRPr lang="en-US" sz="825" b="1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781050" y="5724525"/>
            <a:ext cx="152400" cy="152400"/>
          </a:xfrm>
          <a:prstGeom prst="rect">
            <a:avLst/>
          </a:prstGeom>
          <a:solidFill>
            <a:srgbClr val="73736F"/>
          </a:solidFill>
          <a:ln w="0">
            <a:solidFill>
              <a:srgbClr val="73736F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09650" y="5676900"/>
            <a:ext cx="781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sz="10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924050" y="5724525"/>
            <a:ext cx="152400" cy="152400"/>
          </a:xfrm>
          <a:prstGeom prst="rect">
            <a:avLst/>
          </a:prstGeom>
          <a:solidFill>
            <a:srgbClr val="C7C7C2"/>
          </a:solidFill>
          <a:ln w="0">
            <a:solidFill>
              <a:srgbClr val="C7C7C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152650" y="5676900"/>
            <a:ext cx="781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进行中</a:t>
            </a:r>
            <a:endParaRPr sz="10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685800" y="4000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WORK SUMMARY</a:t>
            </a:r>
            <a:endParaRPr sz="105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试用期工作总览</a:t>
            </a:r>
            <a:endParaRPr sz="30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85800" y="1428750"/>
            <a:ext cx="108204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9950" y="61912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50" b="0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20002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2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4574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业务熟悉</a:t>
            </a:r>
            <a:endParaRPr sz="13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8384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5000"/>
              </a:lnSpc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［掌握的业务、流程、系统］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3695700"/>
            <a:ext cx="220980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1］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2］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3］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3200400" y="1924050"/>
            <a:ext cx="0" cy="337185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429000" y="20002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2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429000" y="24574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重点任务</a:t>
            </a:r>
            <a:endParaRPr sz="13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429000" y="28384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5000"/>
              </a:lnSpc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［承担的项目或日常工作］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29000" y="3695700"/>
            <a:ext cx="220980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1］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2］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3］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5848350" y="1924050"/>
            <a:ext cx="0" cy="337185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076950" y="20002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2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76950" y="24574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协作支持</a:t>
            </a:r>
            <a:endParaRPr sz="13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76950" y="28384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5000"/>
              </a:lnSpc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［跨团队配合、问题响应］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76950" y="3695700"/>
            <a:ext cx="220980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1］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2］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3］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8496300" y="1924050"/>
            <a:ext cx="0" cy="337185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724900" y="20002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2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724900" y="24574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能力提升</a:t>
            </a:r>
            <a:endParaRPr sz="13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724900" y="28384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5000"/>
              </a:lnSpc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［培训、学习与经验沉淀］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724900" y="3695700"/>
            <a:ext cx="220980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1］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2］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3］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781050" y="5619750"/>
            <a:ext cx="105156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81050" y="58293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一句话总结</a:t>
            </a:r>
            <a:endParaRPr sz="12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286000" y="5791200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［概括试用期工作的整体状态与主要价值。］</a:t>
            </a:r>
            <a:endParaRPr sz="16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685800" y="4000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KEY ACHIEVEMENT</a:t>
            </a:r>
            <a:endParaRPr sz="105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工作总结</a:t>
            </a:r>
            <a:r>
              <a: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培训</a:t>
            </a:r>
            <a:endParaRPr sz="30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85800" y="1428750"/>
            <a:ext cx="108204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9950" y="61912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050" b="0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2009775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1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42887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培训内容</a:t>
            </a:r>
            <a:endParaRPr sz="16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2924175"/>
            <a:ext cx="2476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40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［为什么做、需要解决什么问题、你的职责是什么。］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3486150" y="2009775"/>
            <a:ext cx="0" cy="203835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752850" y="2009775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1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752850" y="242887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</a:t>
            </a:r>
            <a:r>
              <a: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</a:t>
            </a:r>
            <a:endParaRPr sz="16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752850" y="2924175"/>
            <a:ext cx="2476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40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［说明你主导或深度参与的 2—3 个关键动作。］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6553200" y="2009775"/>
            <a:ext cx="0" cy="203835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819900" y="2009775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1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19900" y="242887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收获</a:t>
            </a:r>
            <a:r>
              <a: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与感受</a:t>
            </a:r>
            <a:endParaRPr sz="16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819900" y="2924175"/>
            <a:ext cx="2476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40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［写清结果、数据、效率提升或业务影响。］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9715500" y="2009775"/>
            <a:ext cx="0" cy="203835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001250" y="2009775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001250" y="2486025"/>
            <a:ext cx="1200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554"/>
          </a:bodyPr>
          <a:lstStyle>
            <a:def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［XX%］</a:t>
            </a:r>
            <a:endParaRPr sz="25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001250" y="3038475"/>
            <a:ext cx="1200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［指标名称］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81050" y="5734050"/>
            <a:ext cx="1000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个人贡献：［明确说明自己承担的部分，避免只写团队整体成果。］</a:t>
            </a:r>
            <a:endParaRPr sz="1425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685800" y="4000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KEY ACHIEVEMENT</a:t>
            </a:r>
            <a:endParaRPr sz="105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工作总结-问题单概览</a:t>
            </a:r>
            <a:endParaRPr sz="30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85800" y="1428750"/>
            <a:ext cx="108204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9950" y="61912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050" b="0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81050" y="1676400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39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9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9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9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9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9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9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9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9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9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9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68</a:t>
            </a:r>
            <a:endParaRPr sz="39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1050" y="22479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问题单总量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514600" y="17907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2026.06.15—10.23</a:t>
            </a:r>
            <a:endParaRPr sz="16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514600" y="21907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统计时间跨度</a:t>
            </a:r>
            <a:endParaRPr sz="11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067300" y="17907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月 19 单</a:t>
            </a:r>
            <a:endParaRPr sz="16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067300" y="21907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月度峰值</a:t>
            </a:r>
            <a:endParaRPr sz="11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181850" y="17907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个国家/地区</a:t>
            </a:r>
            <a:endParaRPr sz="16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181850" y="21907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服务覆盖</a:t>
            </a:r>
            <a:endParaRPr sz="11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525000" y="17907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MYBN 24 单</a:t>
            </a:r>
            <a:endParaRPr sz="16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525000" y="21907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占总量 35.3%</a:t>
            </a:r>
            <a:endParaRPr sz="11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781050" y="2590800"/>
            <a:ext cx="105156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81050" y="27813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问题单月度分布</a:t>
            </a:r>
            <a:endParaRPr sz="15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7" name="Chart"/>
          <p:cNvGraphicFramePr/>
          <p:nvPr/>
        </p:nvGraphicFramePr>
        <p:xfrm>
          <a:off x="685800" y="3105150"/>
          <a:ext cx="4953000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8" name="矩形 37"/>
          <p:cNvSpPr>
            <a:spLocks noGrp="1"/>
          </p:cNvSpPr>
          <p:nvPr/>
        </p:nvSpPr>
        <p:spPr>
          <a:xfrm>
            <a:off x="6191250" y="27813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国家/地区服务覆盖</a:t>
            </a:r>
            <a:endParaRPr sz="15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9" name="Chart"/>
          <p:cNvGraphicFramePr/>
          <p:nvPr/>
        </p:nvGraphicFramePr>
        <p:xfrm>
          <a:off x="7658100" y="3105150"/>
          <a:ext cx="3638550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" name="矩形 39"/>
          <p:cNvSpPr>
            <a:spLocks noGrp="1"/>
          </p:cNvSpPr>
          <p:nvPr/>
        </p:nvSpPr>
        <p:spPr>
          <a:xfrm>
            <a:off x="6191250" y="331470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KH 柬埔寨</a:t>
            </a:r>
            <a:endParaRPr sz="8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191250" y="367665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KZAZGE 中亚/外高加索</a:t>
            </a:r>
            <a:endParaRPr sz="8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191250" y="403860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SG 新加坡</a:t>
            </a:r>
            <a:endParaRPr sz="8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191250" y="440055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 澳大利亚</a:t>
            </a:r>
            <a:endParaRPr sz="8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191250" y="476250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 菲律宾</a:t>
            </a:r>
            <a:endParaRPr sz="8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191250" y="512445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MYBN 马来西亚/文莱</a:t>
            </a:r>
            <a:endParaRPr sz="8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781050" y="5810250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问题单量从 6 月的 4 单增长至 9 月的 19 单，10 月回落至 16 单。服务量主要集中在 MYBN、PH 和 AU，合计占 75.0%。</a:t>
            </a:r>
            <a:endParaRPr sz="11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685800" y="4000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PERFORMANCE REVIEW</a:t>
            </a:r>
            <a:endParaRPr sz="105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问题类型与地区分布</a:t>
            </a:r>
            <a:endParaRPr sz="30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85800" y="1428750"/>
            <a:ext cx="108204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9950" y="61912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050" b="0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1695450"/>
            <a:ext cx="133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54 单</a:t>
            </a:r>
            <a:endParaRPr sz="25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190750" y="1781175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前三类问题，占总量 79.4%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781050" y="2266950"/>
            <a:ext cx="105156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238315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问题类型数量</a:t>
            </a:r>
            <a:endParaRPr sz="15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0" name="Chart"/>
          <p:cNvGraphicFramePr/>
          <p:nvPr/>
        </p:nvGraphicFramePr>
        <p:xfrm>
          <a:off x="2286000" y="2726055"/>
          <a:ext cx="3686175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矩形 20"/>
          <p:cNvSpPr>
            <a:spLocks noGrp="1"/>
          </p:cNvSpPr>
          <p:nvPr/>
        </p:nvSpPr>
        <p:spPr>
          <a:xfrm>
            <a:off x="781050" y="2907030"/>
            <a:ext cx="1409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产品咨询</a:t>
            </a:r>
            <a:endParaRPr sz="8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81050" y="3268980"/>
            <a:ext cx="1409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软件集成</a:t>
            </a:r>
            <a:endParaRPr sz="8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81050" y="3630930"/>
            <a:ext cx="1409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设备/兼容性</a:t>
            </a:r>
            <a:endParaRPr sz="8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1050" y="3992880"/>
            <a:ext cx="1409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软件升级/数据库</a:t>
            </a:r>
            <a:endParaRPr sz="8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81050" y="4354830"/>
            <a:ext cx="1409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现场环境</a:t>
            </a:r>
            <a:endParaRPr sz="8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1050" y="4716780"/>
            <a:ext cx="1409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软件问题</a:t>
            </a:r>
            <a:endParaRPr sz="8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81050" y="5078730"/>
            <a:ext cx="1409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操作/安装配置</a:t>
            </a:r>
            <a:endParaRPr sz="8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81050" y="5857875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软件缺陷问题共 8 个，占全部问题单 11.8%，约占软件问题的 47.1%。处理时重点记录复现条件、版本和影响范围，并跟踪修复验证。</a:t>
            </a:r>
            <a:endParaRPr sz="11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Defect Count"/>
          <p:cNvSpPr txBox="1"/>
          <p:nvPr/>
        </p:nvSpPr>
        <p:spPr>
          <a:xfrm>
            <a:off x="6572250" y="1695450"/>
            <a:ext cx="142875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3400" b="1" dirty="0">
                <a:solidFill>
                  <a:srgbClr val="181818"/>
                </a:solidFill>
                <a:latin typeface="Microsoft YaHei"/>
                <a:ea typeface="Microsoft YaHei"/>
              </a:rPr>
              <a:t>8 个</a:t>
            </a:r>
            <a:endParaRPr lang="zh-CN" sz="3400">
              <a:latin typeface="Microsoft YaHei"/>
              <a:ea typeface="Microsoft YaHei"/>
            </a:endParaRPr>
          </a:p>
        </p:txBody>
      </p:sp>
      <p:sp>
        <p:nvSpPr>
          <p:cNvPr id="32" name="Defect Count Label"/>
          <p:cNvSpPr txBox="1"/>
          <p:nvPr/>
        </p:nvSpPr>
        <p:spPr>
          <a:xfrm>
            <a:off x="8058150" y="1781175"/>
            <a:ext cx="3048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1800" b="0" dirty="0">
                <a:solidFill>
                  <a:srgbClr val="666666"/>
                </a:solidFill>
                <a:latin typeface="Microsoft YaHei"/>
                <a:ea typeface="Microsoft YaHei"/>
              </a:rPr>
              <a:t>处理软件缺陷问题</a:t>
            </a:r>
            <a:endParaRPr lang="zh-CN" sz="1800">
              <a:latin typeface="Microsoft YaHei"/>
              <a:ea typeface="Microsoft YaHei"/>
            </a:endParaRPr>
          </a:p>
        </p:txBody>
      </p:sp>
      <p:sp>
        <p:nvSpPr>
          <p:cNvPr id="33" name="Defect Analysis Heading"/>
          <p:cNvSpPr txBox="1"/>
          <p:nvPr/>
        </p:nvSpPr>
        <p:spPr>
          <a:xfrm>
            <a:off x="6572250" y="2457450"/>
            <a:ext cx="2857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000" b="1" dirty="0">
                <a:solidFill>
                  <a:srgbClr val="181818"/>
                </a:solidFill>
                <a:latin typeface="Microsoft YaHei"/>
                <a:ea typeface="Microsoft YaHei"/>
              </a:rPr>
              <a:t>软件缺陷问题分析</a:t>
            </a:r>
            <a:endParaRPr lang="zh-CN" sz="2000">
              <a:latin typeface="Microsoft YaHei"/>
              <a:ea typeface="Microsoft YaHei"/>
            </a:endParaRPr>
          </a:p>
        </p:txBody>
      </p:sp>
      <p:sp>
        <p:nvSpPr>
          <p:cNvPr id="34" name="Defect Total Share"/>
          <p:cNvSpPr txBox="1"/>
          <p:nvPr/>
        </p:nvSpPr>
        <p:spPr>
          <a:xfrm>
            <a:off x="6572250" y="3028950"/>
            <a:ext cx="1714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3000" b="1" dirty="0">
                <a:solidFill>
                  <a:srgbClr val="181818"/>
                </a:solidFill>
                <a:latin typeface="Microsoft YaHei"/>
                <a:ea typeface="Microsoft YaHei"/>
              </a:rPr>
              <a:t>11.8%</a:t>
            </a:r>
            <a:endParaRPr lang="zh-CN" sz="3000">
              <a:latin typeface="Microsoft YaHei"/>
              <a:ea typeface="Microsoft YaHei"/>
            </a:endParaRPr>
          </a:p>
        </p:txBody>
      </p:sp>
      <p:sp>
        <p:nvSpPr>
          <p:cNvPr id="35" name="Defect Total Share Label"/>
          <p:cNvSpPr txBox="1"/>
          <p:nvPr/>
        </p:nvSpPr>
        <p:spPr>
          <a:xfrm>
            <a:off x="6572250" y="3476625"/>
            <a:ext cx="17145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00" b="0" dirty="0">
                <a:solidFill>
                  <a:srgbClr val="666666"/>
                </a:solidFill>
                <a:latin typeface="Microsoft YaHei"/>
                <a:ea typeface="Microsoft YaHei"/>
              </a:rPr>
              <a:t>占全部问题单</a:t>
            </a:r>
            <a:endParaRPr lang="zh-CN" sz="1500">
              <a:latin typeface="Microsoft YaHei"/>
              <a:ea typeface="Microsoft YaHei"/>
            </a:endParaRPr>
          </a:p>
        </p:txBody>
      </p:sp>
      <p:sp>
        <p:nvSpPr>
          <p:cNvPr id="36" name="Defect Software Share"/>
          <p:cNvSpPr txBox="1"/>
          <p:nvPr/>
        </p:nvSpPr>
        <p:spPr>
          <a:xfrm>
            <a:off x="8858250" y="3028950"/>
            <a:ext cx="1714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3000" b="1" dirty="0">
                <a:solidFill>
                  <a:srgbClr val="181818"/>
                </a:solidFill>
                <a:latin typeface="Microsoft YaHei"/>
                <a:ea typeface="Microsoft YaHei"/>
              </a:rPr>
              <a:t>47.1%</a:t>
            </a:r>
            <a:endParaRPr lang="zh-CN" sz="3000">
              <a:latin typeface="Microsoft YaHei"/>
              <a:ea typeface="Microsoft YaHei"/>
            </a:endParaRPr>
          </a:p>
        </p:txBody>
      </p:sp>
      <p:sp>
        <p:nvSpPr>
          <p:cNvPr id="37" name="Defect Software Share Label"/>
          <p:cNvSpPr txBox="1"/>
          <p:nvPr/>
        </p:nvSpPr>
        <p:spPr>
          <a:xfrm>
            <a:off x="8858250" y="3476625"/>
            <a:ext cx="17145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00" b="0" dirty="0">
                <a:solidFill>
                  <a:srgbClr val="666666"/>
                </a:solidFill>
                <a:latin typeface="Microsoft YaHei"/>
                <a:ea typeface="Microsoft YaHei"/>
              </a:rPr>
              <a:t>占软件问题</a:t>
            </a:r>
            <a:endParaRPr lang="zh-CN" sz="1500">
              <a:latin typeface="Microsoft YaHei"/>
              <a:ea typeface="Microsoft YaHei"/>
            </a:endParaRPr>
          </a:p>
        </p:txBody>
      </p:sp>
      <p:sp>
        <p:nvSpPr>
          <p:cNvPr id="38" name="Defect Finding Heading"/>
          <p:cNvSpPr txBox="1"/>
          <p:nvPr/>
        </p:nvSpPr>
        <p:spPr>
          <a:xfrm>
            <a:off x="6572250" y="4000500"/>
            <a:ext cx="952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800" b="1" dirty="0">
                <a:solidFill>
                  <a:srgbClr val="181818"/>
                </a:solidFill>
                <a:latin typeface="Microsoft YaHei"/>
                <a:ea typeface="Microsoft YaHei"/>
              </a:rPr>
              <a:t>分析</a:t>
            </a:r>
            <a:endParaRPr lang="zh-CN" sz="1800">
              <a:latin typeface="Microsoft YaHei"/>
              <a:ea typeface="Microsoft YaHei"/>
            </a:endParaRPr>
          </a:p>
        </p:txBody>
      </p:sp>
      <p:sp>
        <p:nvSpPr>
          <p:cNvPr id="39" name="Defect Finding"/>
          <p:cNvSpPr txBox="1"/>
          <p:nvPr/>
        </p:nvSpPr>
        <p:spPr>
          <a:xfrm>
            <a:off x="6572250" y="4333875"/>
            <a:ext cx="44767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 b="0" dirty="0">
                <a:solidFill>
                  <a:srgbClr val="555555"/>
                </a:solidFill>
                <a:latin typeface="Microsoft YaHei"/>
                <a:ea typeface="Microsoft YaHei"/>
              </a:rPr>
              <a:t>软件缺陷约占软件问题的一半，是软件类问题中的主要处理对象。</a:t>
            </a:r>
            <a:endParaRPr lang="zh-CN" sz="1600">
              <a:latin typeface="Microsoft YaHei"/>
              <a:ea typeface="Microsoft YaHei"/>
            </a:endParaRPr>
          </a:p>
        </p:txBody>
      </p:sp>
      <p:sp>
        <p:nvSpPr>
          <p:cNvPr id="40" name="Defect Action"/>
          <p:cNvSpPr txBox="1"/>
          <p:nvPr/>
        </p:nvSpPr>
        <p:spPr>
          <a:xfrm>
            <a:off x="6572250" y="4953000"/>
            <a:ext cx="4476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 b="0" dirty="0">
                <a:solidFill>
                  <a:srgbClr val="555555"/>
                </a:solidFill>
                <a:latin typeface="Microsoft YaHei"/>
                <a:ea typeface="Microsoft YaHei"/>
              </a:rPr>
              <a:t>后续可沉淀典型案例和复现模板，加强研发协同与修复验证，提高同类问题定位效率。</a:t>
            </a:r>
            <a:endParaRPr lang="zh-CN" sz="1600"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685800" y="4000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PERFORMANCE REVIEW</a:t>
            </a:r>
            <a:endParaRPr sz="105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工作总结</a:t>
            </a:r>
            <a:r>
              <a:rPr lang="en-US" altLang="zh-CN"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</a:t>
            </a:r>
            <a:r>
              <a:rPr lang="zh-CN" altLang="en-US"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建设</a:t>
            </a:r>
            <a:endParaRPr lang="zh-CN" altLang="en-US" sz="30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85800" y="1428750"/>
            <a:ext cx="108204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9950" y="61912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050" b="0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1695450"/>
            <a:ext cx="238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000"/>
          </a:bodyPr>
          <a:lstStyle>
            <a:def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Hiknow</a:t>
            </a:r>
            <a:r>
              <a:rPr lang="zh-CN" altLang="en-US"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</a:t>
            </a:r>
            <a:r>
              <a:rPr lang="en-US" altLang="zh-CN"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-10</a:t>
            </a:r>
            <a:endParaRPr lang="en-US" altLang="zh-CN" sz="25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781050" y="2266950"/>
            <a:ext cx="105156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81050" y="5857875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操作配置在 MYBN、PH、AU 和 KZAZGE 中占比较高；SG 以软件问题为主。KH 仅 1 单，全部为现场环境问题。</a:t>
            </a:r>
            <a:endParaRPr sz="11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47890" y="1695450"/>
            <a:ext cx="238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FAQ</a:t>
            </a:r>
            <a:r>
              <a:rPr lang="en-US" altLang="zh-CN"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endParaRPr lang="en-US" altLang="zh-CN" sz="25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85800" y="4000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SELF ASSESSMENT</a:t>
            </a:r>
            <a:endParaRPr sz="105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自我评价</a:t>
            </a:r>
            <a:endParaRPr sz="30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85800" y="1428750"/>
            <a:ext cx="108204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9950" y="61912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050" b="0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9240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</a:t>
            </a:r>
            <a:endParaRPr sz="19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571750"/>
            <a:ext cx="4476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70000"/>
              </a:lnSpc>
              <a:buNone/>
              <a:def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</a:t>
            </a:r>
            <a:endParaRPr sz="1650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70000"/>
              </a:lnSpc>
              <a:buNone/>
              <a:def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［优势二：用事实举例］</a:t>
            </a:r>
            <a:endParaRPr sz="1650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70000"/>
              </a:lnSpc>
              <a:buNone/>
              <a:def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［优势三：用事实举例］</a:t>
            </a:r>
            <a:endParaRPr sz="1650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962650" y="1866900"/>
            <a:ext cx="0" cy="333375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572250" y="19240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有待</a:t>
            </a:r>
            <a:r>
              <a: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提高</a:t>
            </a:r>
            <a:endParaRPr sz="19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572250" y="2571750"/>
            <a:ext cx="42862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</a:t>
            </a:r>
            <a:endParaRPr sz="157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改进方式：［具体行动］</a:t>
            </a:r>
            <a:endParaRPr sz="157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575"/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［不足或短板］</a:t>
            </a:r>
            <a:endParaRPr sz="157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改进方式：［具体行动］</a:t>
            </a:r>
            <a:endParaRPr sz="157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685800" y="4000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FUTURE PLAN</a:t>
            </a:r>
            <a:endParaRPr sz="105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未来工作规划</a:t>
            </a:r>
            <a:endParaRPr sz="30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85800" y="1428750"/>
            <a:ext cx="108204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9950" y="61912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050" b="0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1143000" y="3105150"/>
            <a:ext cx="9715500" cy="0"/>
          </a:xfrm>
          <a:prstGeom prst="line">
            <a:avLst/>
          </a:prstGeom>
          <a:noFill/>
          <a:ln w="19050">
            <a:solidFill>
              <a:srgbClr val="D7D7D1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1066800" y="2981325"/>
            <a:ext cx="247650" cy="247650"/>
          </a:xfrm>
          <a:prstGeom prst="ellipse">
            <a:avLst/>
          </a:prstGeom>
          <a:solidFill>
            <a:srgbClr val="181818"/>
          </a:solidFill>
          <a:ln w="0">
            <a:solidFill>
              <a:srgbClr val="18181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33450" y="186690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近期</a:t>
            </a:r>
            <a:endParaRPr sz="19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23241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 1—3 个月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3600450"/>
            <a:ext cx="2667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50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［补齐能力短板］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［稳定交付核心工作］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［完成重点任务］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4667250" y="2981325"/>
            <a:ext cx="247650" cy="247650"/>
          </a:xfrm>
          <a:prstGeom prst="ellipse">
            <a:avLst/>
          </a:prstGeom>
          <a:solidFill>
            <a:srgbClr val="181818"/>
          </a:solidFill>
          <a:ln w="0">
            <a:solidFill>
              <a:srgbClr val="18181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533900" y="186690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</a:t>
            </a:r>
            <a:endParaRPr sz="19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533900" y="23241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 3—6 个月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533900" y="3600450"/>
            <a:ext cx="2667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50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［独立负责某项工作］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［提升效率或质量］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［形成方法沉淀］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8267700" y="2981325"/>
            <a:ext cx="247650" cy="247650"/>
          </a:xfrm>
          <a:prstGeom prst="ellipse">
            <a:avLst/>
          </a:prstGeom>
          <a:solidFill>
            <a:srgbClr val="181818"/>
          </a:solidFill>
          <a:ln w="0">
            <a:solidFill>
              <a:srgbClr val="18181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134350" y="186690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</a:t>
            </a:r>
            <a:endParaRPr sz="19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134350" y="23241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 6—12 个月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134350" y="3600450"/>
            <a:ext cx="2667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50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［承担更高目标］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［扩大业务影响］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［支持团队建设］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58293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衡量方式：每项计划都对应一个明确结果或可验证的产出</a:t>
            </a:r>
            <a:endParaRPr sz="127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685800" y="4000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SUGGESTIONS</a:t>
            </a:r>
            <a:endParaRPr sz="105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30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85800" y="1428750"/>
            <a:ext cx="108204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9950" y="61912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050" b="0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866900"/>
            <a:ext cx="228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部门整体</a:t>
            </a:r>
            <a:endParaRPr sz="21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5717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现状观察</a:t>
            </a:r>
            <a:endParaRPr sz="12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952750"/>
            <a:ext cx="438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［基于实际工作描述一个具体问题或机会。］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388620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2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4267200"/>
            <a:ext cx="438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［提出可执行、成本适中的改进方案。］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5962650" y="1866900"/>
            <a:ext cx="0" cy="352425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572250" y="1866900"/>
            <a:ext cx="228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团队内部</a:t>
            </a:r>
            <a:endParaRPr sz="21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572250" y="25717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现状观察</a:t>
            </a:r>
            <a:endParaRPr sz="12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572250" y="2952750"/>
            <a:ext cx="438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［从协作、流程、知识共享等角度描述。］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572250" y="388620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2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572250" y="4267200"/>
            <a:ext cx="438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［说明建议动作、负责人和预期效果。］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781050" y="2209800"/>
            <a:ext cx="4953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109"/>
          </a:bodyPr>
          <a:lstStyle>
            <a:defPPr algn="l"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</a:t>
            </a:r>
            <a:endParaRPr sz="48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19150" y="3238500"/>
            <a:ext cx="533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请各位领导批评指正</a:t>
            </a:r>
            <a:endParaRPr sz="2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819150" y="4095750"/>
            <a:ext cx="10287000" cy="0"/>
          </a:xfrm>
          <a:prstGeom prst="line">
            <a:avLst/>
          </a:prstGeom>
          <a:noFill/>
          <a:ln w="14288">
            <a:solidFill>
              <a:srgbClr val="181818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677400" y="459105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 &amp; A</a:t>
            </a:r>
            <a:endParaRPr sz="18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2066</Words>
  <Application>WPS 演示</Application>
  <PresentationFormat>Converted Presentation</PresentationFormat>
  <Paragraphs>500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Arial Unicode MS</vt:lpstr>
      <vt:lpstr>Aptos</vt:lpstr>
      <vt:lpstr>Segoe UI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Yongbin Bao</cp:lastModifiedBy>
  <cp:revision>3</cp:revision>
  <dcterms:created xsi:type="dcterms:W3CDTF">2026-10-25T21:20:06Z</dcterms:created>
  <dcterms:modified xsi:type="dcterms:W3CDTF">2026-10-25T21:47:47Z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C8BD3DBBD93C435381061A9FCC231081_12</vt:lpwstr>
  </property>
</Properties>
</file>