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C9CED3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C9CED3"/>
              </a:solidFill>
            </c:spPr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{2024,2025,2026,2027}</c:f>
              <c:numCache>
                <c:formatCode>General</c:formatCod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numCache>
            </c:numRef>
          </c:cat>
          <c:val>
            <c:numRef>
              <c:f>{0,0,0,0}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spPr>
            <a:ln w="38100" cap="rnd">
              <a:solidFill>
                <a:srgbClr val="2376B7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2376B7"/>
              </a:solidFill>
            </c:spPr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{2024,2025,2026,2027}</c:f>
              <c:numCache>
                <c:formatCode>General</c:formatCod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numCache>
            </c:numRef>
          </c:cat>
          <c:val>
            <c:numRef>
              <c:f>{0,0,0,0}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Security-network market</c:f>
              <c:strCache>
                <c:ptCount val="1"/>
                <c:pt idx="0">
                  <c:v>Security-network market</c:v>
                </c:pt>
              </c:strCache>
            </c:strRef>
          </c:tx>
          <c:spPr>
            <a:ln w="38100" cap="rnd">
              <a:solidFill>
                <a:srgbClr val="D71920"/>
              </a:solidFill>
              <a:prstDash val="solid"/>
              <a:round/>
            </a:ln>
          </c:spPr>
          <c:marker>
            <c:symbol val="diamond"/>
            <c:size val="7"/>
            <c:spPr>
              <a:solidFill>
                <a:srgbClr val="D71920"/>
              </a:solidFill>
            </c:spPr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{2024,2025,2026,2027}</c:f>
              <c:numCache>
                <c:formatCode>General</c:formatCod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numCache>
            </c:numRef>
          </c:cat>
          <c:val>
            <c:numRef>
              <c:f>{600,680,750,830}</c:f>
              <c:numCache>
                <c:formatCode>General</c:formatCode>
                <c:ptCount val="4"/>
                <c:pt idx="0">
                  <c:v>600</c:v>
                </c:pt>
                <c:pt idx="1">
                  <c:v>680</c:v>
                </c:pt>
                <c:pt idx="2">
                  <c:v>750</c:v>
                </c:pt>
                <c:pt idx="3">
                  <c:v>830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ED3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900"/>
          <c:min val="500"/>
        </c:scaling>
        <c:delete val="0"/>
        <c:axPos val="l"/>
        <c:majorGridlines>
          <c:spPr>
            <a:ln w="9525">
              <a:solidFill>
                <a:srgbClr val="DDE2E6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0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e2a039c-679d-4e96-966e-018ae6bccee5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internal market-reference image: overseas SMB security-network market values are $600M in 2024, $680M in 2025, $750M in 2026 and $830M in 2027.</a:t>
            </a:r>
          </a:p>
          <a:p>
            <a:r>
              <a:t>Method: 2024–2027 CAGR = (830 / 600)^(1/3) - 1 = 11.46%, rounded to 11.5%. Total growth = 830 / 600 - 1 = 38.33%, rounded to 38%.</a:t>
            </a:r>
          </a:p>
          <a:p>
            <a:r>
              <a:t>These figures are internal planning data, not an externally audited forecast.</a:t>
            </a:r>
          </a:p>
          <a:p>
            <a:r>
              <a:t>Timing: 0:45. Talk track: highlight the steady four-year growth and translate it into repeatable security-video bridge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-4"/>
          <p:cNvSpPr>
            <a:spLocks noGrp="1"/>
          </p:cNvSpPr>
          <p:nvPr/>
        </p:nvSpPr>
        <p:spPr>
          <a:xfrm>
            <a:off x="533400" y="361950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SMB security-network market grows to $830M</a:t>
            </a:r>
            <a:endParaRPr sz="3000" b="1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brand-4"/>
          <p:cNvSpPr>
            <a:spLocks noGrp="1"/>
          </p:cNvSpPr>
          <p:nvPr/>
        </p:nvSpPr>
        <p:spPr>
          <a:xfrm>
            <a:off x="10477500" y="40005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350" b="1">
                <a:solidFill>
                  <a:srgbClr val="D719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719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HIKVISION</a:t>
            </a:r>
            <a:endParaRPr sz="1350" b="1">
              <a:solidFill>
                <a:srgbClr val="D719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ule-4"/>
          <p:cNvSpPr>
            <a:spLocks noGrp="1"/>
          </p:cNvSpPr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C9CED3"/>
          </a:solidFill>
          <a:ln w="0">
            <a:noFill/>
            <a:prstDash val="solid"/>
          </a:ln>
        </p:spPr>
      </p:sp>
      <p:sp>
        <p:nvSpPr>
          <p:cNvPr id="4" name="page-4"/>
          <p:cNvSpPr>
            <a:spLocks noGrp="1"/>
          </p:cNvSpPr>
          <p:nvPr/>
        </p:nvSpPr>
        <p:spPr>
          <a:xfrm>
            <a:off x="11144250" y="64008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="552450" y="1428750"/>
          <a:ext cx="72390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4-index"/>
          <p:cNvSpPr>
            <a:spLocks noGrp="1"/>
          </p:cNvSpPr>
          <p:nvPr/>
        </p:nvSpPr>
        <p:spPr>
          <a:xfrm>
            <a:off x="742950" y="12192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9439"/>
          </a:bodyPr>
          <a:lstStyle/>
          <a:p>
            <a:pPr algn="l">
              <a:buNone/>
              <a:defRPr sz="1050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Overseas SMB security-network market (US$M)</a:t>
            </a:r>
            <a:endParaRPr sz="1050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etric-5.2%-858"/>
          <p:cNvSpPr>
            <a:spLocks noGrp="1"/>
          </p:cNvSpPr>
          <p:nvPr/>
        </p:nvSpPr>
        <p:spPr>
          <a:xfrm>
            <a:off x="8172450" y="1562100"/>
            <a:ext cx="3067050" cy="1657350"/>
          </a:xfrm>
          <a:prstGeom prst="roundRect">
            <a:avLst>
              <a:gd name="adj" fmla="val 4598"/>
            </a:avLst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8" name="metric-accent-5.2%-858"/>
          <p:cNvSpPr>
            <a:spLocks noGrp="1"/>
          </p:cNvSpPr>
          <p:nvPr/>
        </p:nvSpPr>
        <p:spPr>
          <a:xfrm>
            <a:off x="8172450" y="1562100"/>
            <a:ext cx="76200" cy="16573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</p:sp>
      <p:sp>
        <p:nvSpPr>
          <p:cNvPr id="9" name="metric-value-5.2%-858"/>
          <p:cNvSpPr>
            <a:spLocks noGrp="1"/>
          </p:cNvSpPr>
          <p:nvPr/>
        </p:nvSpPr>
        <p:spPr>
          <a:xfrm>
            <a:off x="8420100" y="1809750"/>
            <a:ext cx="2647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D719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D719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+11.5%</a:t>
            </a:r>
            <a:endParaRPr sz="3300" b="1">
              <a:solidFill>
                <a:srgbClr val="D719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etric-label-5.2%-858"/>
          <p:cNvSpPr>
            <a:spLocks noGrp="1"/>
          </p:cNvSpPr>
          <p:nvPr/>
        </p:nvSpPr>
        <p:spPr>
          <a:xfrm>
            <a:off x="8420100" y="255270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 CAGR</a:t>
            </a:r>
            <a:endParaRPr sz="1275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2024–2027</a:t>
            </a:r>
            <a:endParaRPr sz="1275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etric-4.9%-858"/>
          <p:cNvSpPr>
            <a:spLocks noGrp="1"/>
          </p:cNvSpPr>
          <p:nvPr/>
        </p:nvSpPr>
        <p:spPr>
          <a:xfrm>
            <a:off x="8172450" y="3390900"/>
            <a:ext cx="3067050" cy="1657350"/>
          </a:xfrm>
          <a:prstGeom prst="roundRect">
            <a:avLst>
              <a:gd name="adj" fmla="val 4598"/>
            </a:avLst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2" name="metric-accent-4.9%-858"/>
          <p:cNvSpPr>
            <a:spLocks noGrp="1"/>
          </p:cNvSpPr>
          <p:nvPr/>
        </p:nvSpPr>
        <p:spPr>
          <a:xfrm>
            <a:off x="8172450" y="3390900"/>
            <a:ext cx="76200" cy="1657350"/>
          </a:xfrm>
          <a:prstGeom prst="rect">
            <a:avLst/>
          </a:prstGeom>
          <a:solidFill>
            <a:srgbClr val="2376B7"/>
          </a:solidFill>
          <a:ln w="0">
            <a:noFill/>
            <a:prstDash val="solid"/>
          </a:ln>
        </p:spPr>
      </p:sp>
      <p:sp>
        <p:nvSpPr>
          <p:cNvPr id="13" name="metric-value-4.9%-858"/>
          <p:cNvSpPr>
            <a:spLocks noGrp="1"/>
          </p:cNvSpPr>
          <p:nvPr/>
        </p:nvSpPr>
        <p:spPr>
          <a:xfrm>
            <a:off x="8420100" y="3638550"/>
            <a:ext cx="2647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2376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376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+38%</a:t>
            </a:r>
            <a:endParaRPr sz="3300" b="1">
              <a:solidFill>
                <a:srgbClr val="2376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metric-label-4.9%-858"/>
          <p:cNvSpPr>
            <a:spLocks noGrp="1"/>
          </p:cNvSpPr>
          <p:nvPr/>
        </p:nvSpPr>
        <p:spPr>
          <a:xfrm>
            <a:off x="8420100" y="4381500"/>
            <a:ext cx="2647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 growth</a:t>
            </a:r>
            <a:endParaRPr sz="1275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2024–2027</a:t>
            </a:r>
            <a:endParaRPr sz="1275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4-bottom"/>
          <p:cNvSpPr>
            <a:spLocks noGrp="1"/>
          </p:cNvSpPr>
          <p:nvPr/>
        </p:nvSpPr>
        <p:spPr>
          <a:xfrm>
            <a:off x="8172450" y="5219700"/>
            <a:ext cx="30670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342"/>
          </a:bodyPr>
          <a:lstStyle/>
          <a:p>
            <a:pPr algn="l">
              <a:buNone/>
              <a:defRPr sz="1350" b="1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8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Implication: steady security-market growth supports standardized video-backhaul kits and repeatable channel delivery.</a:t>
            </a:r>
            <a:endParaRPr sz="1350" b="1">
              <a:solidFill>
                <a:srgbClr val="1018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4-source"/>
          <p:cNvSpPr>
            <a:spLocks noGrp="1"/>
          </p:cNvSpPr>
          <p:nvPr/>
        </p:nvSpPr>
        <p:spPr>
          <a:xfrm>
            <a:off x="552450" y="60198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E68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user-provided internal market reference; US$M.</a:t>
            </a:r>
            <a:endParaRPr sz="975" b="0">
              <a:solidFill>
                <a:srgbClr val="5E68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WPS 演示</Application>
  <PresentationFormat>Converted Presentation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1</cp:revision>
  <dcterms:created xsi:type="dcterms:W3CDTF">2026-08-25T17:58:40Z</dcterms:created>
  <dcterms:modified xsi:type="dcterms:W3CDTF">2026-08-25T17:58:40Z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98C881BB92654481A94F0957381B60F6_12</vt:lpwstr>
  </property>
  <property fmtid="{D5CDD505-2E9C-101B-9397-08002B2CF9AE}" pid="3" name="KSOProductBuildVer">
    <vt:lpwstr>2052-12.1.0.28043</vt:lpwstr>
  </property>
</Properties>
</file>